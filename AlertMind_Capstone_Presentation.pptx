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6792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Good [morning/afternoon] everyone. My capstone project is AlertMind — an AI-assisted mini Security Operations Centre that combines a real SIEM deployment with a generative AI analyst assistant. Over the next 10 minutes I'll walk through the problem, the architecture, what I built, and what the results showed.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Security teams today are overwhelmed by alert volume. SIEMs are good at detecting events, but a human still has to read every alert, figure out the attacker technique, and decide what to do — and that doesn't scale, and different analysts read the same alert differently. That's the gap AlertMind targets: use an LLM as a tier-1 assistant that does the first pass, while the analyst keeps final say.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project has three integrated layers. First, security monitoring — Wazuh collects logs from Windows, Linux and AWS CloudTrail. Second, detection engineering — twelve custom rules mapped to MITRE ATT&amp;CK. And third, AI-assisted analysis — a LangChain application using Groq's Llama 3.1 8B model that acts as a tier-1 analyst on top of the alerts Wazuh generates.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These were the core objectives — deploying the SIEM, building at least ten detection rules mapped to ATT&amp;CK, dashboards, IR playbooks aligned to NIST 800-61, the AI assistant, and responsible AI guardrails. The whole thing was measured against two standard SOC metrics: mean time to detect and mean time to respond.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Here's the full architecture. On the left is the actual diagram from the report. Endpoints — Windows and Linux — forward telemetry to the Wazuh SIEM layer. Atomic Red Team simulates real attacker techniques against the Windows endpoint. Alerts that Wazuh generates are exported to the AI analysis layer — a LangChain app calling Groq's Llama 3.1 8B model — and everything is wrapped in a governance layer: sanitization, logging, and mandatory human review before any action.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Twelve custom detection rules were built and validated — one was retired during validation for being redundant, so eleven distinct techniques made it into the final set. Each rule targets a specific attacker behaviour — command shell abuse, encoded PowerShell, persistence via registry or scheduled tasks, brute force logins, and more — and every rule is mapped to its MITRE ATT&amp;CK technique ID, so the SOC has a standard vocabulary for what happened.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Two custom dashboards were built inside Wazuh. The SOC Overview dashboard gives total alerts, severity split, active agents and recent events at a glance. The MITRE ATT&amp;CK dashboard maps every triggered rule to its tactic and technique, so an analyst instantly sees what stage of an attack they're looking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core AI layer. Wazuh generates the alert as JSON, AlertMind — built with LangChain calling Groq's Llama 3.1 8B Instant model — processes it, and the analyst reviews the output before anything happens. For every alert it produces five things: a summary, an ATT&amp;CK mapping, investigation queries, recommended actions, and a draft notification. Importantly, the AI never touches raw logs or performs detection itself — it only interprets what Wazuh already found, which keeps detection trustworthy and the AI layer replaceable.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Because this is a security context, responsible AI wasn't optional. Every prompt is sanitized, every prompt and response is logged for audit, every recommendation needs a human sign-off, and the assistant is never allowed to trigger an automated response — it only advises.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Validation followed four stages: Atomic Red Team simulated real attacker techniques, Sysmon and the Wazuh Agent captured the telemetry, the custom rules fired the correct alert, and AlertMind then analyzed that alert. Across all tested techniques, detection worked end-to-end, and the AI assistant consistently returned all five outputs — summary, mapping, investigation steps, recommended action, and draft notification — without ever touching Wazuh's own detection result.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On results: centralized monitoring worked across all three log sources, every custom rule fired correctly during testing, and the AI consistently produced structured output while never interfering with Wazuh's own detection. On limitations — this was a controlled lab, not production scale; the AI only recommends, never acts automatically; and it's a small 8-billion-parameter model, so a larger model could reason even better. These are honest, expected boundaries of a capstone-scale prototype.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 conclude: AlertMind shows that AI works best in a SOC as a decision-support tool, not a replacement. Wazuh remains the source of truth for detection; AlertMind simply reduces the time and effort it takes an analyst to understand and act on an alert, with a human always making the final call. Thank you —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8869680" y="548640"/>
            <a:ext cx="41148" cy="41148"/>
          </a:xfrm>
          <a:prstGeom prst="ellipse">
            <a:avLst/>
          </a:prstGeom>
          <a:solidFill>
            <a:srgbClr val="1E3A5F"/>
          </a:solidFill>
          <a:ln/>
        </p:spPr>
        <p:txBody>
          <a:bodyPr/>
          <a:lstStyle/>
          <a:p>
            <a:endParaRPr lang="en-US"/>
          </a:p>
        </p:txBody>
      </p:sp>
      <p:sp>
        <p:nvSpPr>
          <p:cNvPr id="3" name="Shape 1"/>
          <p:cNvSpPr/>
          <p:nvPr/>
        </p:nvSpPr>
        <p:spPr>
          <a:xfrm>
            <a:off x="8869680" y="841248"/>
            <a:ext cx="41148" cy="41148"/>
          </a:xfrm>
          <a:prstGeom prst="ellipse">
            <a:avLst/>
          </a:prstGeom>
          <a:solidFill>
            <a:srgbClr val="1E3A5F"/>
          </a:solidFill>
          <a:ln/>
        </p:spPr>
        <p:txBody>
          <a:bodyPr/>
          <a:lstStyle/>
          <a:p>
            <a:endParaRPr lang="en-US"/>
          </a:p>
        </p:txBody>
      </p:sp>
      <p:sp>
        <p:nvSpPr>
          <p:cNvPr id="4" name="Shape 2"/>
          <p:cNvSpPr/>
          <p:nvPr/>
        </p:nvSpPr>
        <p:spPr>
          <a:xfrm>
            <a:off x="8869680" y="1133856"/>
            <a:ext cx="41148" cy="41148"/>
          </a:xfrm>
          <a:prstGeom prst="ellipse">
            <a:avLst/>
          </a:prstGeom>
          <a:solidFill>
            <a:srgbClr val="1E3A5F"/>
          </a:solidFill>
          <a:ln/>
        </p:spPr>
        <p:txBody>
          <a:bodyPr/>
          <a:lstStyle/>
          <a:p>
            <a:endParaRPr lang="en-US"/>
          </a:p>
        </p:txBody>
      </p:sp>
      <p:sp>
        <p:nvSpPr>
          <p:cNvPr id="5" name="Shape 3"/>
          <p:cNvSpPr/>
          <p:nvPr/>
        </p:nvSpPr>
        <p:spPr>
          <a:xfrm>
            <a:off x="8869680" y="1426464"/>
            <a:ext cx="41148" cy="41148"/>
          </a:xfrm>
          <a:prstGeom prst="ellipse">
            <a:avLst/>
          </a:prstGeom>
          <a:solidFill>
            <a:srgbClr val="1E3A5F"/>
          </a:solidFill>
          <a:ln/>
        </p:spPr>
        <p:txBody>
          <a:bodyPr/>
          <a:lstStyle/>
          <a:p>
            <a:endParaRPr lang="en-US"/>
          </a:p>
        </p:txBody>
      </p:sp>
      <p:sp>
        <p:nvSpPr>
          <p:cNvPr id="6" name="Shape 4"/>
          <p:cNvSpPr/>
          <p:nvPr/>
        </p:nvSpPr>
        <p:spPr>
          <a:xfrm>
            <a:off x="9162288" y="548640"/>
            <a:ext cx="41148" cy="41148"/>
          </a:xfrm>
          <a:prstGeom prst="ellipse">
            <a:avLst/>
          </a:prstGeom>
          <a:solidFill>
            <a:srgbClr val="1E3A5F"/>
          </a:solidFill>
          <a:ln/>
        </p:spPr>
        <p:txBody>
          <a:bodyPr/>
          <a:lstStyle/>
          <a:p>
            <a:endParaRPr lang="en-US"/>
          </a:p>
        </p:txBody>
      </p:sp>
      <p:sp>
        <p:nvSpPr>
          <p:cNvPr id="7" name="Shape 5"/>
          <p:cNvSpPr/>
          <p:nvPr/>
        </p:nvSpPr>
        <p:spPr>
          <a:xfrm>
            <a:off x="9162288" y="841248"/>
            <a:ext cx="41148" cy="41148"/>
          </a:xfrm>
          <a:prstGeom prst="ellipse">
            <a:avLst/>
          </a:prstGeom>
          <a:solidFill>
            <a:srgbClr val="1E3A5F"/>
          </a:solidFill>
          <a:ln/>
        </p:spPr>
        <p:txBody>
          <a:bodyPr/>
          <a:lstStyle/>
          <a:p>
            <a:endParaRPr lang="en-US"/>
          </a:p>
        </p:txBody>
      </p:sp>
      <p:sp>
        <p:nvSpPr>
          <p:cNvPr id="8" name="Shape 6"/>
          <p:cNvSpPr/>
          <p:nvPr/>
        </p:nvSpPr>
        <p:spPr>
          <a:xfrm>
            <a:off x="9162288" y="1133856"/>
            <a:ext cx="41148" cy="41148"/>
          </a:xfrm>
          <a:prstGeom prst="ellipse">
            <a:avLst/>
          </a:prstGeom>
          <a:solidFill>
            <a:srgbClr val="1E3A5F"/>
          </a:solidFill>
          <a:ln/>
        </p:spPr>
        <p:txBody>
          <a:bodyPr/>
          <a:lstStyle/>
          <a:p>
            <a:endParaRPr lang="en-US"/>
          </a:p>
        </p:txBody>
      </p:sp>
      <p:sp>
        <p:nvSpPr>
          <p:cNvPr id="9" name="Shape 7"/>
          <p:cNvSpPr/>
          <p:nvPr/>
        </p:nvSpPr>
        <p:spPr>
          <a:xfrm>
            <a:off x="9162288" y="1426464"/>
            <a:ext cx="41148" cy="41148"/>
          </a:xfrm>
          <a:prstGeom prst="ellipse">
            <a:avLst/>
          </a:prstGeom>
          <a:solidFill>
            <a:srgbClr val="1E3A5F"/>
          </a:solidFill>
          <a:ln/>
        </p:spPr>
        <p:txBody>
          <a:bodyPr/>
          <a:lstStyle/>
          <a:p>
            <a:endParaRPr lang="en-US"/>
          </a:p>
        </p:txBody>
      </p:sp>
      <p:sp>
        <p:nvSpPr>
          <p:cNvPr id="10" name="Shape 8"/>
          <p:cNvSpPr/>
          <p:nvPr/>
        </p:nvSpPr>
        <p:spPr>
          <a:xfrm>
            <a:off x="9454896" y="548640"/>
            <a:ext cx="41148" cy="41148"/>
          </a:xfrm>
          <a:prstGeom prst="ellipse">
            <a:avLst/>
          </a:prstGeom>
          <a:solidFill>
            <a:srgbClr val="1E3A5F"/>
          </a:solidFill>
          <a:ln/>
        </p:spPr>
        <p:txBody>
          <a:bodyPr/>
          <a:lstStyle/>
          <a:p>
            <a:endParaRPr lang="en-US"/>
          </a:p>
        </p:txBody>
      </p:sp>
      <p:sp>
        <p:nvSpPr>
          <p:cNvPr id="11" name="Shape 9"/>
          <p:cNvSpPr/>
          <p:nvPr/>
        </p:nvSpPr>
        <p:spPr>
          <a:xfrm>
            <a:off x="9454896" y="841248"/>
            <a:ext cx="41148" cy="41148"/>
          </a:xfrm>
          <a:prstGeom prst="ellipse">
            <a:avLst/>
          </a:prstGeom>
          <a:solidFill>
            <a:srgbClr val="1E3A5F"/>
          </a:solidFill>
          <a:ln/>
        </p:spPr>
        <p:txBody>
          <a:bodyPr/>
          <a:lstStyle/>
          <a:p>
            <a:endParaRPr lang="en-US"/>
          </a:p>
        </p:txBody>
      </p:sp>
      <p:sp>
        <p:nvSpPr>
          <p:cNvPr id="12" name="Shape 10"/>
          <p:cNvSpPr/>
          <p:nvPr/>
        </p:nvSpPr>
        <p:spPr>
          <a:xfrm>
            <a:off x="9454896" y="1133856"/>
            <a:ext cx="41148" cy="41148"/>
          </a:xfrm>
          <a:prstGeom prst="ellipse">
            <a:avLst/>
          </a:prstGeom>
          <a:solidFill>
            <a:srgbClr val="1E3A5F"/>
          </a:solidFill>
          <a:ln/>
        </p:spPr>
        <p:txBody>
          <a:bodyPr/>
          <a:lstStyle/>
          <a:p>
            <a:endParaRPr lang="en-US"/>
          </a:p>
        </p:txBody>
      </p:sp>
      <p:sp>
        <p:nvSpPr>
          <p:cNvPr id="13" name="Shape 11"/>
          <p:cNvSpPr/>
          <p:nvPr/>
        </p:nvSpPr>
        <p:spPr>
          <a:xfrm>
            <a:off x="9454896" y="1426464"/>
            <a:ext cx="41148" cy="41148"/>
          </a:xfrm>
          <a:prstGeom prst="ellipse">
            <a:avLst/>
          </a:prstGeom>
          <a:solidFill>
            <a:srgbClr val="1E3A5F"/>
          </a:solidFill>
          <a:ln/>
        </p:spPr>
        <p:txBody>
          <a:bodyPr/>
          <a:lstStyle/>
          <a:p>
            <a:endParaRPr lang="en-US"/>
          </a:p>
        </p:txBody>
      </p:sp>
      <p:sp>
        <p:nvSpPr>
          <p:cNvPr id="14" name="Shape 12"/>
          <p:cNvSpPr/>
          <p:nvPr/>
        </p:nvSpPr>
        <p:spPr>
          <a:xfrm>
            <a:off x="9747504" y="548640"/>
            <a:ext cx="41148" cy="41148"/>
          </a:xfrm>
          <a:prstGeom prst="ellipse">
            <a:avLst/>
          </a:prstGeom>
          <a:solidFill>
            <a:srgbClr val="1E3A5F"/>
          </a:solidFill>
          <a:ln/>
        </p:spPr>
        <p:txBody>
          <a:bodyPr/>
          <a:lstStyle/>
          <a:p>
            <a:endParaRPr lang="en-US"/>
          </a:p>
        </p:txBody>
      </p:sp>
      <p:sp>
        <p:nvSpPr>
          <p:cNvPr id="15" name="Shape 13"/>
          <p:cNvSpPr/>
          <p:nvPr/>
        </p:nvSpPr>
        <p:spPr>
          <a:xfrm>
            <a:off x="9747504" y="841248"/>
            <a:ext cx="41148" cy="41148"/>
          </a:xfrm>
          <a:prstGeom prst="ellipse">
            <a:avLst/>
          </a:prstGeom>
          <a:solidFill>
            <a:srgbClr val="1E3A5F"/>
          </a:solidFill>
          <a:ln/>
        </p:spPr>
        <p:txBody>
          <a:bodyPr/>
          <a:lstStyle/>
          <a:p>
            <a:endParaRPr lang="en-US"/>
          </a:p>
        </p:txBody>
      </p:sp>
      <p:sp>
        <p:nvSpPr>
          <p:cNvPr id="16" name="Shape 14"/>
          <p:cNvSpPr/>
          <p:nvPr/>
        </p:nvSpPr>
        <p:spPr>
          <a:xfrm>
            <a:off x="9747504" y="1133856"/>
            <a:ext cx="41148" cy="41148"/>
          </a:xfrm>
          <a:prstGeom prst="ellipse">
            <a:avLst/>
          </a:prstGeom>
          <a:solidFill>
            <a:srgbClr val="1E3A5F"/>
          </a:solidFill>
          <a:ln/>
        </p:spPr>
        <p:txBody>
          <a:bodyPr/>
          <a:lstStyle/>
          <a:p>
            <a:endParaRPr lang="en-US"/>
          </a:p>
        </p:txBody>
      </p:sp>
      <p:sp>
        <p:nvSpPr>
          <p:cNvPr id="17" name="Shape 15"/>
          <p:cNvSpPr/>
          <p:nvPr/>
        </p:nvSpPr>
        <p:spPr>
          <a:xfrm>
            <a:off x="9747504" y="1426464"/>
            <a:ext cx="41148" cy="41148"/>
          </a:xfrm>
          <a:prstGeom prst="ellipse">
            <a:avLst/>
          </a:prstGeom>
          <a:solidFill>
            <a:srgbClr val="1E3A5F"/>
          </a:solidFill>
          <a:ln/>
        </p:spPr>
        <p:txBody>
          <a:bodyPr/>
          <a:lstStyle/>
          <a:p>
            <a:endParaRPr lang="en-US"/>
          </a:p>
        </p:txBody>
      </p:sp>
      <p:sp>
        <p:nvSpPr>
          <p:cNvPr id="18" name="Shape 16"/>
          <p:cNvSpPr/>
          <p:nvPr/>
        </p:nvSpPr>
        <p:spPr>
          <a:xfrm>
            <a:off x="10040112" y="548640"/>
            <a:ext cx="41148" cy="41148"/>
          </a:xfrm>
          <a:prstGeom prst="ellipse">
            <a:avLst/>
          </a:prstGeom>
          <a:solidFill>
            <a:srgbClr val="1E3A5F"/>
          </a:solidFill>
          <a:ln/>
        </p:spPr>
        <p:txBody>
          <a:bodyPr/>
          <a:lstStyle/>
          <a:p>
            <a:endParaRPr lang="en-US"/>
          </a:p>
        </p:txBody>
      </p:sp>
      <p:sp>
        <p:nvSpPr>
          <p:cNvPr id="19" name="Shape 17"/>
          <p:cNvSpPr/>
          <p:nvPr/>
        </p:nvSpPr>
        <p:spPr>
          <a:xfrm>
            <a:off x="10040112" y="841248"/>
            <a:ext cx="41148" cy="41148"/>
          </a:xfrm>
          <a:prstGeom prst="ellipse">
            <a:avLst/>
          </a:prstGeom>
          <a:solidFill>
            <a:srgbClr val="1E3A5F"/>
          </a:solidFill>
          <a:ln/>
        </p:spPr>
        <p:txBody>
          <a:bodyPr/>
          <a:lstStyle/>
          <a:p>
            <a:endParaRPr lang="en-US"/>
          </a:p>
        </p:txBody>
      </p:sp>
      <p:sp>
        <p:nvSpPr>
          <p:cNvPr id="20" name="Shape 18"/>
          <p:cNvSpPr/>
          <p:nvPr/>
        </p:nvSpPr>
        <p:spPr>
          <a:xfrm>
            <a:off x="10040112" y="1133856"/>
            <a:ext cx="41148" cy="41148"/>
          </a:xfrm>
          <a:prstGeom prst="ellipse">
            <a:avLst/>
          </a:prstGeom>
          <a:solidFill>
            <a:srgbClr val="1E3A5F"/>
          </a:solidFill>
          <a:ln/>
        </p:spPr>
        <p:txBody>
          <a:bodyPr/>
          <a:lstStyle/>
          <a:p>
            <a:endParaRPr lang="en-US"/>
          </a:p>
        </p:txBody>
      </p:sp>
      <p:sp>
        <p:nvSpPr>
          <p:cNvPr id="21" name="Shape 19"/>
          <p:cNvSpPr/>
          <p:nvPr/>
        </p:nvSpPr>
        <p:spPr>
          <a:xfrm>
            <a:off x="10040112" y="1426464"/>
            <a:ext cx="41148" cy="41148"/>
          </a:xfrm>
          <a:prstGeom prst="ellipse">
            <a:avLst/>
          </a:prstGeom>
          <a:solidFill>
            <a:srgbClr val="1E3A5F"/>
          </a:solidFill>
          <a:ln/>
        </p:spPr>
        <p:txBody>
          <a:bodyPr/>
          <a:lstStyle/>
          <a:p>
            <a:endParaRPr lang="en-US"/>
          </a:p>
        </p:txBody>
      </p:sp>
      <p:sp>
        <p:nvSpPr>
          <p:cNvPr id="22" name="Shape 20"/>
          <p:cNvSpPr/>
          <p:nvPr/>
        </p:nvSpPr>
        <p:spPr>
          <a:xfrm>
            <a:off x="10332720" y="548640"/>
            <a:ext cx="41148" cy="41148"/>
          </a:xfrm>
          <a:prstGeom prst="ellipse">
            <a:avLst/>
          </a:prstGeom>
          <a:solidFill>
            <a:srgbClr val="1E3A5F"/>
          </a:solidFill>
          <a:ln/>
        </p:spPr>
        <p:txBody>
          <a:bodyPr/>
          <a:lstStyle/>
          <a:p>
            <a:endParaRPr lang="en-US"/>
          </a:p>
        </p:txBody>
      </p:sp>
      <p:sp>
        <p:nvSpPr>
          <p:cNvPr id="23" name="Shape 21"/>
          <p:cNvSpPr/>
          <p:nvPr/>
        </p:nvSpPr>
        <p:spPr>
          <a:xfrm>
            <a:off x="10332720" y="841248"/>
            <a:ext cx="41148" cy="41148"/>
          </a:xfrm>
          <a:prstGeom prst="ellipse">
            <a:avLst/>
          </a:prstGeom>
          <a:solidFill>
            <a:srgbClr val="1E3A5F"/>
          </a:solidFill>
          <a:ln/>
        </p:spPr>
        <p:txBody>
          <a:bodyPr/>
          <a:lstStyle/>
          <a:p>
            <a:endParaRPr lang="en-US"/>
          </a:p>
        </p:txBody>
      </p:sp>
      <p:sp>
        <p:nvSpPr>
          <p:cNvPr id="24" name="Shape 22"/>
          <p:cNvSpPr/>
          <p:nvPr/>
        </p:nvSpPr>
        <p:spPr>
          <a:xfrm>
            <a:off x="10332720" y="1133856"/>
            <a:ext cx="41148" cy="41148"/>
          </a:xfrm>
          <a:prstGeom prst="ellipse">
            <a:avLst/>
          </a:prstGeom>
          <a:solidFill>
            <a:srgbClr val="1E3A5F"/>
          </a:solidFill>
          <a:ln/>
        </p:spPr>
        <p:txBody>
          <a:bodyPr/>
          <a:lstStyle/>
          <a:p>
            <a:endParaRPr lang="en-US"/>
          </a:p>
        </p:txBody>
      </p:sp>
      <p:sp>
        <p:nvSpPr>
          <p:cNvPr id="25" name="Shape 23"/>
          <p:cNvSpPr/>
          <p:nvPr/>
        </p:nvSpPr>
        <p:spPr>
          <a:xfrm>
            <a:off x="10332720" y="1426464"/>
            <a:ext cx="41148" cy="41148"/>
          </a:xfrm>
          <a:prstGeom prst="ellipse">
            <a:avLst/>
          </a:prstGeom>
          <a:solidFill>
            <a:srgbClr val="1E3A5F"/>
          </a:solidFill>
          <a:ln/>
        </p:spPr>
        <p:txBody>
          <a:bodyPr/>
          <a:lstStyle/>
          <a:p>
            <a:endParaRPr lang="en-US"/>
          </a:p>
        </p:txBody>
      </p:sp>
      <p:sp>
        <p:nvSpPr>
          <p:cNvPr id="26" name="Shape 24"/>
          <p:cNvSpPr/>
          <p:nvPr/>
        </p:nvSpPr>
        <p:spPr>
          <a:xfrm>
            <a:off x="822960" y="777240"/>
            <a:ext cx="777240" cy="777240"/>
          </a:xfrm>
          <a:prstGeom prst="ellipse">
            <a:avLst/>
          </a:prstGeom>
          <a:solidFill>
            <a:srgbClr val="00C2D1"/>
          </a:solidFill>
          <a:ln/>
        </p:spPr>
        <p:txBody>
          <a:bodyPr/>
          <a:lstStyle/>
          <a:p>
            <a:endParaRPr lang="en-US"/>
          </a:p>
        </p:txBody>
      </p:sp>
      <p:pic>
        <p:nvPicPr>
          <p:cNvPr id="27" name="Image 0" descr="/home/claude/pptx_build/icons/shield.png"/>
          <p:cNvPicPr>
            <a:picLocks noChangeAspect="1"/>
          </p:cNvPicPr>
          <p:nvPr/>
        </p:nvPicPr>
        <p:blipFill>
          <a:blip r:embed="rId3"/>
          <a:stretch>
            <a:fillRect/>
          </a:stretch>
        </p:blipFill>
        <p:spPr>
          <a:xfrm>
            <a:off x="1009498" y="963778"/>
            <a:ext cx="404165" cy="404165"/>
          </a:xfrm>
          <a:prstGeom prst="rect">
            <a:avLst/>
          </a:prstGeom>
        </p:spPr>
      </p:pic>
      <p:sp>
        <p:nvSpPr>
          <p:cNvPr id="28" name="Text 25"/>
          <p:cNvSpPr/>
          <p:nvPr/>
        </p:nvSpPr>
        <p:spPr>
          <a:xfrm>
            <a:off x="822960" y="1783080"/>
            <a:ext cx="7315200" cy="320040"/>
          </a:xfrm>
          <a:prstGeom prst="rect">
            <a:avLst/>
          </a:prstGeom>
          <a:noFill/>
          <a:ln/>
        </p:spPr>
        <p:txBody>
          <a:bodyPr wrap="square" rtlCol="0" anchor="ctr"/>
          <a:lstStyle/>
          <a:p>
            <a:pPr marL="0" indent="0">
              <a:buNone/>
            </a:pPr>
            <a:r>
              <a:rPr lang="en-US" sz="1300" b="1" kern="0" spc="200" dirty="0">
                <a:solidFill>
                  <a:srgbClr val="6FE4EC"/>
                </a:solidFill>
                <a:latin typeface="Calibri" pitchFamily="34" charset="0"/>
                <a:ea typeface="Calibri" pitchFamily="34" charset="-122"/>
                <a:cs typeface="Calibri" pitchFamily="34" charset="-120"/>
              </a:rPr>
              <a:t>IIT ROORKEE  ×  FUTURENSE</a:t>
            </a:r>
            <a:endParaRPr lang="en-US" sz="1300" dirty="0"/>
          </a:p>
        </p:txBody>
      </p:sp>
      <p:sp>
        <p:nvSpPr>
          <p:cNvPr id="29" name="Text 26"/>
          <p:cNvSpPr/>
          <p:nvPr/>
        </p:nvSpPr>
        <p:spPr>
          <a:xfrm>
            <a:off x="822960" y="2121408"/>
            <a:ext cx="8686800" cy="320040"/>
          </a:xfrm>
          <a:prstGeom prst="rect">
            <a:avLst/>
          </a:prstGeom>
          <a:noFill/>
          <a:ln/>
        </p:spPr>
        <p:txBody>
          <a:bodyPr wrap="square" rtlCol="0" anchor="ctr"/>
          <a:lstStyle/>
          <a:p>
            <a:pPr marL="0" indent="0">
              <a:buNone/>
            </a:pPr>
            <a:r>
              <a:rPr lang="en-US" sz="1300" dirty="0">
                <a:solidFill>
                  <a:srgbClr val="8CA0BC"/>
                </a:solidFill>
                <a:latin typeface="Calibri" pitchFamily="34" charset="0"/>
                <a:ea typeface="Calibri" pitchFamily="34" charset="-122"/>
                <a:cs typeface="Calibri" pitchFamily="34" charset="-120"/>
              </a:rPr>
              <a:t>PG Certificate in AI/GenAI Powered Cybersecurity  —  Capstone, Cohort 1</a:t>
            </a:r>
            <a:endParaRPr lang="en-US" sz="1300" dirty="0"/>
          </a:p>
        </p:txBody>
      </p:sp>
      <p:sp>
        <p:nvSpPr>
          <p:cNvPr id="30" name="Text 27"/>
          <p:cNvSpPr/>
          <p:nvPr/>
        </p:nvSpPr>
        <p:spPr>
          <a:xfrm>
            <a:off x="777240" y="2606040"/>
            <a:ext cx="10058400" cy="1371600"/>
          </a:xfrm>
          <a:prstGeom prst="rect">
            <a:avLst/>
          </a:prstGeom>
          <a:noFill/>
          <a:ln/>
        </p:spPr>
        <p:txBody>
          <a:bodyPr wrap="square" rtlCol="0" anchor="ctr"/>
          <a:lstStyle/>
          <a:p>
            <a:pPr marL="0" indent="0">
              <a:buNone/>
            </a:pPr>
            <a:r>
              <a:rPr lang="en-US" sz="7200" b="1" dirty="0">
                <a:solidFill>
                  <a:srgbClr val="FFFFFF"/>
                </a:solidFill>
                <a:latin typeface="Calibri" pitchFamily="34" charset="0"/>
                <a:ea typeface="Calibri" pitchFamily="34" charset="-122"/>
                <a:cs typeface="Calibri" pitchFamily="34" charset="-120"/>
              </a:rPr>
              <a:t>AlertMind</a:t>
            </a:r>
            <a:endParaRPr lang="en-US" sz="7200" dirty="0"/>
          </a:p>
        </p:txBody>
      </p:sp>
      <p:sp>
        <p:nvSpPr>
          <p:cNvPr id="31" name="Text 28"/>
          <p:cNvSpPr/>
          <p:nvPr/>
        </p:nvSpPr>
        <p:spPr>
          <a:xfrm>
            <a:off x="822960" y="3794760"/>
            <a:ext cx="9601200" cy="548640"/>
          </a:xfrm>
          <a:prstGeom prst="rect">
            <a:avLst/>
          </a:prstGeom>
          <a:noFill/>
          <a:ln/>
        </p:spPr>
        <p:txBody>
          <a:bodyPr wrap="square" rtlCol="0" anchor="ctr"/>
          <a:lstStyle/>
          <a:p>
            <a:pPr marL="0" indent="0">
              <a:buNone/>
            </a:pPr>
            <a:r>
              <a:rPr lang="en-US" sz="2400" dirty="0">
                <a:solidFill>
                  <a:srgbClr val="6FE4EC"/>
                </a:solidFill>
                <a:latin typeface="Calibri" pitchFamily="34" charset="0"/>
                <a:ea typeface="Calibri" pitchFamily="34" charset="-122"/>
                <a:cs typeface="Calibri" pitchFamily="34" charset="-120"/>
              </a:rPr>
              <a:t>An AI-Assisted Mini Security Operations Centre</a:t>
            </a:r>
            <a:endParaRPr lang="en-US" sz="2400" dirty="0"/>
          </a:p>
        </p:txBody>
      </p:sp>
      <p:sp>
        <p:nvSpPr>
          <p:cNvPr id="32" name="Text 29"/>
          <p:cNvSpPr/>
          <p:nvPr/>
        </p:nvSpPr>
        <p:spPr>
          <a:xfrm>
            <a:off x="822960" y="4434840"/>
            <a:ext cx="9875520" cy="365760"/>
          </a:xfrm>
          <a:prstGeom prst="rect">
            <a:avLst/>
          </a:prstGeom>
          <a:noFill/>
          <a:ln/>
        </p:spPr>
        <p:txBody>
          <a:bodyPr wrap="square" rtlCol="0" anchor="ctr"/>
          <a:lstStyle/>
          <a:p>
            <a:pPr marL="0" indent="0">
              <a:buNone/>
            </a:pPr>
            <a:r>
              <a:rPr lang="en-US" sz="1350" i="1" dirty="0">
                <a:solidFill>
                  <a:srgbClr val="8CA0BC"/>
                </a:solidFill>
                <a:latin typeface="Calibri" pitchFamily="34" charset="0"/>
                <a:ea typeface="Calibri" pitchFamily="34" charset="-122"/>
                <a:cs typeface="Calibri" pitchFamily="34" charset="-120"/>
              </a:rPr>
              <a:t>Wazuh SIEM  •  MITRE ATT&amp;CK-Mapped Detections  •  LangChain + Llama 3.1 (Groq) Tier-1 Analyst Assistant</a:t>
            </a:r>
            <a:endParaRPr lang="en-US" sz="1350" dirty="0"/>
          </a:p>
        </p:txBody>
      </p:sp>
      <p:sp>
        <p:nvSpPr>
          <p:cNvPr id="33" name="Shape 30"/>
          <p:cNvSpPr/>
          <p:nvPr/>
        </p:nvSpPr>
        <p:spPr>
          <a:xfrm>
            <a:off x="822960" y="5989320"/>
            <a:ext cx="3108960" cy="0"/>
          </a:xfrm>
          <a:prstGeom prst="line">
            <a:avLst/>
          </a:prstGeom>
          <a:noFill/>
          <a:ln w="12700">
            <a:solidFill>
              <a:srgbClr val="27476F"/>
            </a:solidFill>
            <a:prstDash val="solid"/>
          </a:ln>
        </p:spPr>
        <p:txBody>
          <a:bodyPr/>
          <a:lstStyle/>
          <a:p>
            <a:endParaRPr lang="en-US"/>
          </a:p>
        </p:txBody>
      </p:sp>
      <p:sp>
        <p:nvSpPr>
          <p:cNvPr id="34" name="Text 31"/>
          <p:cNvSpPr/>
          <p:nvPr/>
        </p:nvSpPr>
        <p:spPr>
          <a:xfrm>
            <a:off x="822960" y="6108192"/>
            <a:ext cx="548640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Soumil  | Karnamughilhan R</a:t>
            </a:r>
            <a:endParaRPr lang="en-US" sz="1300" dirty="0"/>
          </a:p>
        </p:txBody>
      </p:sp>
      <p:sp>
        <p:nvSpPr>
          <p:cNvPr id="35" name="Text 32"/>
          <p:cNvSpPr/>
          <p:nvPr/>
        </p:nvSpPr>
        <p:spPr>
          <a:xfrm>
            <a:off x="822960" y="6382512"/>
            <a:ext cx="5486400" cy="274320"/>
          </a:xfrm>
          <a:prstGeom prst="rect">
            <a:avLst/>
          </a:prstGeom>
          <a:noFill/>
          <a:ln/>
        </p:spPr>
        <p:txBody>
          <a:bodyPr wrap="square" rtlCol="0" anchor="ctr"/>
          <a:lstStyle/>
          <a:p>
            <a:pPr marL="0" indent="0">
              <a:buNone/>
            </a:pPr>
            <a:r>
              <a:rPr lang="en-US" sz="1100" dirty="0">
                <a:solidFill>
                  <a:srgbClr val="8CA0BC"/>
                </a:solidFill>
                <a:latin typeface="Calibri" pitchFamily="34" charset="0"/>
                <a:ea typeface="Calibri" pitchFamily="34" charset="-122"/>
                <a:cs typeface="Calibri" pitchFamily="34" charset="-120"/>
              </a:rPr>
              <a:t>Capstone Project Submission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822960"/>
            <a:ext cx="7772400" cy="822960"/>
          </a:xfrm>
          <a:prstGeom prst="rect">
            <a:avLst/>
          </a:prstGeom>
          <a:noFill/>
          <a:ln/>
        </p:spPr>
        <p:txBody>
          <a:bodyPr wrap="square" rtlCol="0" anchor="ctr"/>
          <a:lstStyle/>
          <a:p>
            <a:pPr marL="0" indent="0">
              <a:buNone/>
            </a:pPr>
            <a:r>
              <a:rPr lang="en-US" sz="3000" b="1" dirty="0">
                <a:solidFill>
                  <a:srgbClr val="0A1628"/>
                </a:solidFill>
                <a:latin typeface="Calibri" pitchFamily="34" charset="0"/>
                <a:ea typeface="Calibri" pitchFamily="34" charset="-122"/>
                <a:cs typeface="Calibri" pitchFamily="34" charset="-120"/>
              </a:rPr>
              <a:t>SOC analysts are drowning in alerts</a:t>
            </a:r>
            <a:endParaRPr lang="en-US" sz="3000" dirty="0"/>
          </a:p>
        </p:txBody>
      </p:sp>
      <p:sp>
        <p:nvSpPr>
          <p:cNvPr id="4" name="Text 2"/>
          <p:cNvSpPr/>
          <p:nvPr/>
        </p:nvSpPr>
        <p:spPr>
          <a:xfrm>
            <a:off x="640080" y="1783080"/>
            <a:ext cx="6126480" cy="1371600"/>
          </a:xfrm>
          <a:prstGeom prst="rect">
            <a:avLst/>
          </a:prstGeom>
          <a:noFill/>
          <a:ln/>
        </p:spPr>
        <p:txBody>
          <a:bodyPr wrap="square" rtlCol="0" anchor="t"/>
          <a:lstStyle/>
          <a:p>
            <a:pPr marL="0" indent="0">
              <a:buNone/>
            </a:pPr>
            <a:r>
              <a:rPr lang="en-US" sz="1400" dirty="0">
                <a:solidFill>
                  <a:srgbClr val="5C6B82"/>
                </a:solidFill>
                <a:latin typeface="Calibri" pitchFamily="34" charset="0"/>
                <a:ea typeface="Calibri" pitchFamily="34" charset="-122"/>
                <a:cs typeface="Calibri" pitchFamily="34" charset="-120"/>
              </a:rPr>
              <a:t>Modern SIEMs (Wazuh, Sentinel, Splunk, QRadar) correlate huge volumes of security logs — but every alert still needs a human to read it, map it to an attacker technique, and decide what to do next.</a:t>
            </a:r>
            <a:endParaRPr lang="en-US" sz="1400" dirty="0"/>
          </a:p>
        </p:txBody>
      </p:sp>
      <p:sp>
        <p:nvSpPr>
          <p:cNvPr id="5" name="Shape 3"/>
          <p:cNvSpPr/>
          <p:nvPr/>
        </p:nvSpPr>
        <p:spPr>
          <a:xfrm>
            <a:off x="640080" y="3246120"/>
            <a:ext cx="502920" cy="502920"/>
          </a:xfrm>
          <a:prstGeom prst="ellipse">
            <a:avLst/>
          </a:prstGeom>
          <a:solidFill>
            <a:srgbClr val="0A1628"/>
          </a:solidFill>
          <a:ln/>
        </p:spPr>
        <p:txBody>
          <a:bodyPr/>
          <a:lstStyle/>
          <a:p>
            <a:endParaRPr lang="en-US"/>
          </a:p>
        </p:txBody>
      </p:sp>
      <p:pic>
        <p:nvPicPr>
          <p:cNvPr id="6" name="Image 0" descr="/home/claude/pptx_build/icons/alert.png"/>
          <p:cNvPicPr>
            <a:picLocks noChangeAspect="1"/>
          </p:cNvPicPr>
          <p:nvPr/>
        </p:nvPicPr>
        <p:blipFill>
          <a:blip r:embed="rId3"/>
          <a:stretch>
            <a:fillRect/>
          </a:stretch>
        </p:blipFill>
        <p:spPr>
          <a:xfrm>
            <a:off x="765810" y="3371850"/>
            <a:ext cx="251460" cy="251460"/>
          </a:xfrm>
          <a:prstGeom prst="rect">
            <a:avLst/>
          </a:prstGeom>
        </p:spPr>
      </p:pic>
      <p:sp>
        <p:nvSpPr>
          <p:cNvPr id="7" name="Text 4"/>
          <p:cNvSpPr/>
          <p:nvPr/>
        </p:nvSpPr>
        <p:spPr>
          <a:xfrm>
            <a:off x="1325880" y="3218688"/>
            <a:ext cx="5120640" cy="320040"/>
          </a:xfrm>
          <a:prstGeom prst="rect">
            <a:avLst/>
          </a:prstGeom>
          <a:noFill/>
          <a:ln/>
        </p:spPr>
        <p:txBody>
          <a:bodyPr wrap="square"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Alert fatigue</a:t>
            </a:r>
            <a:endParaRPr lang="en-US" sz="1500" dirty="0"/>
          </a:p>
        </p:txBody>
      </p:sp>
      <p:sp>
        <p:nvSpPr>
          <p:cNvPr id="8" name="Text 5"/>
          <p:cNvSpPr/>
          <p:nvPr/>
        </p:nvSpPr>
        <p:spPr>
          <a:xfrm>
            <a:off x="1325880" y="3538728"/>
            <a:ext cx="5303520" cy="502920"/>
          </a:xfrm>
          <a:prstGeom prst="rect">
            <a:avLst/>
          </a:prstGeom>
          <a:noFill/>
          <a:ln/>
        </p:spPr>
        <p:txBody>
          <a:bodyPr wrap="square" rtlCol="0" anchor="ctr"/>
          <a:lstStyle/>
          <a:p>
            <a:pPr marL="0" indent="0">
              <a:buNone/>
            </a:pPr>
            <a:r>
              <a:rPr lang="en-US" sz="1200" dirty="0">
                <a:solidFill>
                  <a:srgbClr val="5C6B82"/>
                </a:solidFill>
                <a:latin typeface="Calibri" pitchFamily="34" charset="0"/>
                <a:ea typeface="Calibri" pitchFamily="34" charset="-122"/>
                <a:cs typeface="Calibri" pitchFamily="34" charset="-120"/>
              </a:rPr>
              <a:t>Thousands of daily alerts; most are low-priority or false positives.</a:t>
            </a:r>
            <a:endParaRPr lang="en-US" sz="1200" dirty="0"/>
          </a:p>
        </p:txBody>
      </p:sp>
      <p:sp>
        <p:nvSpPr>
          <p:cNvPr id="9" name="Shape 6"/>
          <p:cNvSpPr/>
          <p:nvPr/>
        </p:nvSpPr>
        <p:spPr>
          <a:xfrm>
            <a:off x="640080" y="4251960"/>
            <a:ext cx="502920" cy="502920"/>
          </a:xfrm>
          <a:prstGeom prst="ellipse">
            <a:avLst/>
          </a:prstGeom>
          <a:solidFill>
            <a:srgbClr val="0A1628"/>
          </a:solidFill>
          <a:ln/>
        </p:spPr>
        <p:txBody>
          <a:bodyPr/>
          <a:lstStyle/>
          <a:p>
            <a:endParaRPr lang="en-US"/>
          </a:p>
        </p:txBody>
      </p:sp>
      <p:pic>
        <p:nvPicPr>
          <p:cNvPr id="10" name="Image 1" descr="/home/claude/pptx_build/icons/clock.png"/>
          <p:cNvPicPr>
            <a:picLocks noChangeAspect="1"/>
          </p:cNvPicPr>
          <p:nvPr/>
        </p:nvPicPr>
        <p:blipFill>
          <a:blip r:embed="rId4"/>
          <a:stretch>
            <a:fillRect/>
          </a:stretch>
        </p:blipFill>
        <p:spPr>
          <a:xfrm>
            <a:off x="765810" y="4377690"/>
            <a:ext cx="251460" cy="251460"/>
          </a:xfrm>
          <a:prstGeom prst="rect">
            <a:avLst/>
          </a:prstGeom>
        </p:spPr>
      </p:pic>
      <p:sp>
        <p:nvSpPr>
          <p:cNvPr id="11" name="Text 7"/>
          <p:cNvSpPr/>
          <p:nvPr/>
        </p:nvSpPr>
        <p:spPr>
          <a:xfrm>
            <a:off x="1325880" y="4224528"/>
            <a:ext cx="5120640" cy="320040"/>
          </a:xfrm>
          <a:prstGeom prst="rect">
            <a:avLst/>
          </a:prstGeom>
          <a:noFill/>
          <a:ln/>
        </p:spPr>
        <p:txBody>
          <a:bodyPr wrap="square"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Slow triage</a:t>
            </a:r>
            <a:endParaRPr lang="en-US" sz="1500" dirty="0"/>
          </a:p>
        </p:txBody>
      </p:sp>
      <p:sp>
        <p:nvSpPr>
          <p:cNvPr id="12" name="Text 8"/>
          <p:cNvSpPr/>
          <p:nvPr/>
        </p:nvSpPr>
        <p:spPr>
          <a:xfrm>
            <a:off x="1325880" y="4544568"/>
            <a:ext cx="5303520" cy="502920"/>
          </a:xfrm>
          <a:prstGeom prst="rect">
            <a:avLst/>
          </a:prstGeom>
          <a:noFill/>
          <a:ln/>
        </p:spPr>
        <p:txBody>
          <a:bodyPr wrap="square" rtlCol="0" anchor="ctr"/>
          <a:lstStyle/>
          <a:p>
            <a:pPr marL="0" indent="0">
              <a:buNone/>
            </a:pPr>
            <a:r>
              <a:rPr lang="en-US" sz="1200" dirty="0">
                <a:solidFill>
                  <a:srgbClr val="5C6B82"/>
                </a:solidFill>
                <a:latin typeface="Calibri" pitchFamily="34" charset="0"/>
                <a:ea typeface="Calibri" pitchFamily="34" charset="-122"/>
                <a:cs typeface="Calibri" pitchFamily="34" charset="-120"/>
              </a:rPr>
              <a:t>Every alert needs manual context-building before investigation even starts.</a:t>
            </a:r>
            <a:endParaRPr lang="en-US" sz="1200" dirty="0"/>
          </a:p>
        </p:txBody>
      </p:sp>
      <p:sp>
        <p:nvSpPr>
          <p:cNvPr id="13" name="Shape 9"/>
          <p:cNvSpPr/>
          <p:nvPr/>
        </p:nvSpPr>
        <p:spPr>
          <a:xfrm>
            <a:off x="640080" y="5257800"/>
            <a:ext cx="502920" cy="502920"/>
          </a:xfrm>
          <a:prstGeom prst="ellipse">
            <a:avLst/>
          </a:prstGeom>
          <a:solidFill>
            <a:srgbClr val="0A1628"/>
          </a:solidFill>
          <a:ln/>
        </p:spPr>
        <p:txBody>
          <a:bodyPr/>
          <a:lstStyle/>
          <a:p>
            <a:endParaRPr lang="en-US"/>
          </a:p>
        </p:txBody>
      </p:sp>
      <p:pic>
        <p:nvPicPr>
          <p:cNvPr id="14" name="Image 2" descr="/home/claude/pptx_build/icons/users.png"/>
          <p:cNvPicPr>
            <a:picLocks noChangeAspect="1"/>
          </p:cNvPicPr>
          <p:nvPr/>
        </p:nvPicPr>
        <p:blipFill>
          <a:blip r:embed="rId5"/>
          <a:stretch>
            <a:fillRect/>
          </a:stretch>
        </p:blipFill>
        <p:spPr>
          <a:xfrm>
            <a:off x="765810" y="5383530"/>
            <a:ext cx="251460" cy="251460"/>
          </a:xfrm>
          <a:prstGeom prst="rect">
            <a:avLst/>
          </a:prstGeom>
        </p:spPr>
      </p:pic>
      <p:sp>
        <p:nvSpPr>
          <p:cNvPr id="15" name="Text 10"/>
          <p:cNvSpPr/>
          <p:nvPr/>
        </p:nvSpPr>
        <p:spPr>
          <a:xfrm>
            <a:off x="1325880" y="5230368"/>
            <a:ext cx="5120640" cy="320040"/>
          </a:xfrm>
          <a:prstGeom prst="rect">
            <a:avLst/>
          </a:prstGeom>
          <a:noFill/>
          <a:ln/>
        </p:spPr>
        <p:txBody>
          <a:bodyPr wrap="square"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Inconsistent analysis</a:t>
            </a:r>
            <a:endParaRPr lang="en-US" sz="1500" dirty="0"/>
          </a:p>
        </p:txBody>
      </p:sp>
      <p:sp>
        <p:nvSpPr>
          <p:cNvPr id="16" name="Text 11"/>
          <p:cNvSpPr/>
          <p:nvPr/>
        </p:nvSpPr>
        <p:spPr>
          <a:xfrm>
            <a:off x="1325880" y="5550408"/>
            <a:ext cx="5303520" cy="502920"/>
          </a:xfrm>
          <a:prstGeom prst="rect">
            <a:avLst/>
          </a:prstGeom>
          <a:noFill/>
          <a:ln/>
        </p:spPr>
        <p:txBody>
          <a:bodyPr wrap="square" rtlCol="0" anchor="ctr"/>
          <a:lstStyle/>
          <a:p>
            <a:pPr marL="0" indent="0">
              <a:buNone/>
            </a:pPr>
            <a:r>
              <a:rPr lang="en-US" sz="1200" dirty="0">
                <a:solidFill>
                  <a:srgbClr val="5C6B82"/>
                </a:solidFill>
                <a:latin typeface="Calibri" pitchFamily="34" charset="0"/>
                <a:ea typeface="Calibri" pitchFamily="34" charset="-122"/>
                <a:cs typeface="Calibri" pitchFamily="34" charset="-120"/>
              </a:rPr>
              <a:t>Different analysts interpret the same alert differently.</a:t>
            </a:r>
            <a:endParaRPr lang="en-US" sz="1200" dirty="0"/>
          </a:p>
        </p:txBody>
      </p:sp>
      <p:sp>
        <p:nvSpPr>
          <p:cNvPr id="17" name="Shape 12"/>
          <p:cNvSpPr/>
          <p:nvPr/>
        </p:nvSpPr>
        <p:spPr>
          <a:xfrm>
            <a:off x="7178040" y="1783080"/>
            <a:ext cx="4389120" cy="4343400"/>
          </a:xfrm>
          <a:prstGeom prst="roundRect">
            <a:avLst>
              <a:gd name="adj" fmla="val 2526"/>
            </a:avLst>
          </a:prstGeom>
          <a:solidFill>
            <a:srgbClr val="0A1628"/>
          </a:solidFill>
          <a:ln/>
          <a:effectLst>
            <a:outerShdw blurRad="101600" dist="38100" dir="5400000" algn="bl" rotWithShape="0">
              <a:srgbClr val="0A1628">
                <a:alpha val="18000"/>
              </a:srgbClr>
            </a:outerShdw>
          </a:effectLst>
        </p:spPr>
        <p:txBody>
          <a:bodyPr/>
          <a:lstStyle/>
          <a:p>
            <a:endParaRPr lang="en-US"/>
          </a:p>
        </p:txBody>
      </p:sp>
      <p:sp>
        <p:nvSpPr>
          <p:cNvPr id="18" name="Shape 13"/>
          <p:cNvSpPr/>
          <p:nvPr/>
        </p:nvSpPr>
        <p:spPr>
          <a:xfrm>
            <a:off x="7543800" y="2148840"/>
            <a:ext cx="640080" cy="640080"/>
          </a:xfrm>
          <a:prstGeom prst="ellipse">
            <a:avLst/>
          </a:prstGeom>
          <a:solidFill>
            <a:srgbClr val="00C2D1"/>
          </a:solidFill>
          <a:ln/>
        </p:spPr>
        <p:txBody>
          <a:bodyPr/>
          <a:lstStyle/>
          <a:p>
            <a:endParaRPr lang="en-US"/>
          </a:p>
        </p:txBody>
      </p:sp>
      <p:pic>
        <p:nvPicPr>
          <p:cNvPr id="19" name="Image 3" descr="/home/claude/pptx_build/icons/zap.png"/>
          <p:cNvPicPr>
            <a:picLocks noChangeAspect="1"/>
          </p:cNvPicPr>
          <p:nvPr/>
        </p:nvPicPr>
        <p:blipFill>
          <a:blip r:embed="rId6"/>
          <a:stretch>
            <a:fillRect/>
          </a:stretch>
        </p:blipFill>
        <p:spPr>
          <a:xfrm>
            <a:off x="7697419" y="2302459"/>
            <a:ext cx="332842" cy="332842"/>
          </a:xfrm>
          <a:prstGeom prst="rect">
            <a:avLst/>
          </a:prstGeom>
        </p:spPr>
      </p:pic>
      <p:sp>
        <p:nvSpPr>
          <p:cNvPr id="20" name="Text 14"/>
          <p:cNvSpPr/>
          <p:nvPr/>
        </p:nvSpPr>
        <p:spPr>
          <a:xfrm>
            <a:off x="7543800" y="2926080"/>
            <a:ext cx="3657600" cy="3657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The Opportunity</a:t>
            </a:r>
            <a:endParaRPr lang="en-US" sz="1700" dirty="0"/>
          </a:p>
        </p:txBody>
      </p:sp>
      <p:sp>
        <p:nvSpPr>
          <p:cNvPr id="21" name="Text 15"/>
          <p:cNvSpPr/>
          <p:nvPr/>
        </p:nvSpPr>
        <p:spPr>
          <a:xfrm>
            <a:off x="7543800" y="3337560"/>
            <a:ext cx="3794760" cy="1280160"/>
          </a:xfrm>
          <a:prstGeom prst="rect">
            <a:avLst/>
          </a:prstGeom>
          <a:noFill/>
          <a:ln/>
        </p:spPr>
        <p:txBody>
          <a:bodyPr wrap="square" rtlCol="0" anchor="t"/>
          <a:lstStyle/>
          <a:p>
            <a:pPr marL="0" indent="0">
              <a:buNone/>
            </a:pPr>
            <a:r>
              <a:rPr lang="en-US" sz="1250" dirty="0">
                <a:solidFill>
                  <a:srgbClr val="C6D4E8"/>
                </a:solidFill>
                <a:latin typeface="Calibri" pitchFamily="34" charset="0"/>
                <a:ea typeface="Calibri" pitchFamily="34" charset="-122"/>
                <a:cs typeface="Calibri" pitchFamily="34" charset="-120"/>
              </a:rPr>
              <a:t>LLMs can't replace analyst judgement — but they can absorb the repetitive first pass: summarizing, mapping to ATT&amp;CK, and drafting next steps.</a:t>
            </a:r>
            <a:endParaRPr lang="en-US" sz="1250" dirty="0"/>
          </a:p>
        </p:txBody>
      </p:sp>
      <p:sp>
        <p:nvSpPr>
          <p:cNvPr id="22" name="Text 16"/>
          <p:cNvSpPr/>
          <p:nvPr/>
        </p:nvSpPr>
        <p:spPr>
          <a:xfrm>
            <a:off x="7543800" y="4892040"/>
            <a:ext cx="3794760" cy="1005840"/>
          </a:xfrm>
          <a:prstGeom prst="rect">
            <a:avLst/>
          </a:prstGeom>
          <a:noFill/>
          <a:ln/>
        </p:spPr>
        <p:txBody>
          <a:bodyPr wrap="square" rtlCol="0" anchor="t"/>
          <a:lstStyle/>
          <a:p>
            <a:pPr marL="0" indent="0">
              <a:buNone/>
            </a:pPr>
            <a:r>
              <a:rPr lang="en-US" sz="1250" i="1" dirty="0">
                <a:solidFill>
                  <a:srgbClr val="6FE4EC"/>
                </a:solidFill>
                <a:latin typeface="Calibri" pitchFamily="34" charset="0"/>
                <a:ea typeface="Calibri" pitchFamily="34" charset="-122"/>
                <a:cs typeface="Calibri" pitchFamily="34" charset="-120"/>
              </a:rPr>
              <a:t>AlertMind tests exactly this idea — with guardrails, and a human always in the loop.</a:t>
            </a:r>
            <a:endParaRPr lang="en-US" sz="1250" dirty="0"/>
          </a:p>
        </p:txBody>
      </p:sp>
      <p:sp>
        <p:nvSpPr>
          <p:cNvPr id="23" name="Text 17"/>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CA0BC"/>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640080" y="822960"/>
            <a:ext cx="8229600" cy="640080"/>
          </a:xfrm>
          <a:prstGeom prst="rect">
            <a:avLst/>
          </a:prstGeom>
          <a:noFill/>
          <a:ln/>
        </p:spPr>
        <p:txBody>
          <a:bodyPr wrap="square" rtlCol="0" anchor="ctr"/>
          <a:lstStyle/>
          <a:p>
            <a:pPr marL="0" indent="0">
              <a:buNone/>
            </a:pPr>
            <a:r>
              <a:rPr lang="en-US" sz="2800" b="1" dirty="0">
                <a:solidFill>
                  <a:srgbClr val="0A1628"/>
                </a:solidFill>
                <a:latin typeface="Calibri" pitchFamily="34" charset="0"/>
                <a:ea typeface="Calibri" pitchFamily="34" charset="-122"/>
                <a:cs typeface="Calibri" pitchFamily="34" charset="-120"/>
              </a:rPr>
              <a:t>Three layers, one integrated SOC</a:t>
            </a:r>
            <a:endParaRPr lang="en-US" sz="2800" dirty="0"/>
          </a:p>
        </p:txBody>
      </p:sp>
      <p:sp>
        <p:nvSpPr>
          <p:cNvPr id="4" name="Text 2"/>
          <p:cNvSpPr/>
          <p:nvPr/>
        </p:nvSpPr>
        <p:spPr>
          <a:xfrm>
            <a:off x="640080" y="1371600"/>
            <a:ext cx="9601200" cy="365760"/>
          </a:xfrm>
          <a:prstGeom prst="rect">
            <a:avLst/>
          </a:prstGeom>
          <a:noFill/>
          <a:ln/>
        </p:spPr>
        <p:txBody>
          <a:bodyPr wrap="square" rtlCol="0" anchor="ctr"/>
          <a:lstStyle/>
          <a:p>
            <a:pPr marL="0" indent="0">
              <a:buNone/>
            </a:pPr>
            <a:r>
              <a:rPr lang="en-US" sz="1350" dirty="0">
                <a:solidFill>
                  <a:srgbClr val="5C6B82"/>
                </a:solidFill>
                <a:latin typeface="Calibri" pitchFamily="34" charset="0"/>
                <a:ea typeface="Calibri" pitchFamily="34" charset="-122"/>
                <a:cs typeface="Calibri" pitchFamily="34" charset="-120"/>
              </a:rPr>
              <a:t>AlertMind combines detection, engineering, and generative AI into a single working pipeline.</a:t>
            </a:r>
            <a:endParaRPr lang="en-US" sz="1350" dirty="0"/>
          </a:p>
        </p:txBody>
      </p:sp>
      <p:sp>
        <p:nvSpPr>
          <p:cNvPr id="5" name="Shape 3"/>
          <p:cNvSpPr/>
          <p:nvPr/>
        </p:nvSpPr>
        <p:spPr>
          <a:xfrm>
            <a:off x="640080" y="2103120"/>
            <a:ext cx="3429000" cy="3977640"/>
          </a:xfrm>
          <a:prstGeom prst="roundRect">
            <a:avLst>
              <a:gd name="adj" fmla="val 2667"/>
            </a:avLst>
          </a:prstGeom>
          <a:solidFill>
            <a:srgbClr val="FFFFFF"/>
          </a:solidFill>
          <a:ln w="12700">
            <a:solidFill>
              <a:srgbClr val="E2E8F1"/>
            </a:solidFill>
            <a:prstDash val="solid"/>
          </a:ln>
          <a:effectLst>
            <a:outerShdw blurRad="101600" dist="38100" dir="5400000" algn="bl" rotWithShape="0">
              <a:srgbClr val="0A1628">
                <a:alpha val="18000"/>
              </a:srgbClr>
            </a:outerShdw>
          </a:effectLst>
        </p:spPr>
        <p:txBody>
          <a:bodyPr/>
          <a:lstStyle/>
          <a:p>
            <a:endParaRPr lang="en-US"/>
          </a:p>
        </p:txBody>
      </p:sp>
      <p:sp>
        <p:nvSpPr>
          <p:cNvPr id="6" name="Shape 4"/>
          <p:cNvSpPr/>
          <p:nvPr/>
        </p:nvSpPr>
        <p:spPr>
          <a:xfrm>
            <a:off x="960120" y="2423160"/>
            <a:ext cx="685800" cy="685800"/>
          </a:xfrm>
          <a:prstGeom prst="ellipse">
            <a:avLst/>
          </a:prstGeom>
          <a:solidFill>
            <a:srgbClr val="0A1628"/>
          </a:solidFill>
          <a:ln/>
        </p:spPr>
        <p:txBody>
          <a:bodyPr/>
          <a:lstStyle/>
          <a:p>
            <a:endParaRPr lang="en-US"/>
          </a:p>
        </p:txBody>
      </p:sp>
      <p:pic>
        <p:nvPicPr>
          <p:cNvPr id="7" name="Image 0" descr="/home/claude/pptx_build/icons/server.png"/>
          <p:cNvPicPr>
            <a:picLocks noChangeAspect="1"/>
          </p:cNvPicPr>
          <p:nvPr/>
        </p:nvPicPr>
        <p:blipFill>
          <a:blip r:embed="rId3"/>
          <a:stretch>
            <a:fillRect/>
          </a:stretch>
        </p:blipFill>
        <p:spPr>
          <a:xfrm>
            <a:off x="1124712" y="2587752"/>
            <a:ext cx="356616" cy="356616"/>
          </a:xfrm>
          <a:prstGeom prst="rect">
            <a:avLst/>
          </a:prstGeom>
        </p:spPr>
      </p:pic>
      <p:sp>
        <p:nvSpPr>
          <p:cNvPr id="8" name="Text 5"/>
          <p:cNvSpPr/>
          <p:nvPr/>
        </p:nvSpPr>
        <p:spPr>
          <a:xfrm>
            <a:off x="3246120" y="2377440"/>
            <a:ext cx="548640" cy="457200"/>
          </a:xfrm>
          <a:prstGeom prst="rect">
            <a:avLst/>
          </a:prstGeom>
          <a:noFill/>
          <a:ln/>
        </p:spPr>
        <p:txBody>
          <a:bodyPr wrap="square" rtlCol="0" anchor="ctr"/>
          <a:lstStyle/>
          <a:p>
            <a:pPr marL="0" indent="0" algn="r">
              <a:buNone/>
            </a:pPr>
            <a:r>
              <a:rPr lang="en-US" sz="2000" b="1" dirty="0">
                <a:solidFill>
                  <a:srgbClr val="E2E8F1"/>
                </a:solidFill>
                <a:latin typeface="Calibri" pitchFamily="34" charset="0"/>
                <a:ea typeface="Calibri" pitchFamily="34" charset="-122"/>
                <a:cs typeface="Calibri" pitchFamily="34" charset="-120"/>
              </a:rPr>
              <a:t>01</a:t>
            </a:r>
            <a:endParaRPr lang="en-US" sz="2000" dirty="0"/>
          </a:p>
        </p:txBody>
      </p:sp>
      <p:sp>
        <p:nvSpPr>
          <p:cNvPr id="9" name="Text 6"/>
          <p:cNvSpPr/>
          <p:nvPr/>
        </p:nvSpPr>
        <p:spPr>
          <a:xfrm>
            <a:off x="960120" y="3337560"/>
            <a:ext cx="2788920" cy="457200"/>
          </a:xfrm>
          <a:prstGeom prst="rect">
            <a:avLst/>
          </a:prstGeom>
          <a:noFill/>
          <a:ln/>
        </p:spPr>
        <p:txBody>
          <a:bodyPr wrap="square" rtlCol="0" anchor="ctr"/>
          <a:lstStyle/>
          <a:p>
            <a:pPr marL="0" indent="0">
              <a:buNone/>
            </a:pPr>
            <a:r>
              <a:rPr lang="en-US" sz="1650" b="1" dirty="0">
                <a:solidFill>
                  <a:srgbClr val="0A1628"/>
                </a:solidFill>
                <a:latin typeface="Calibri" pitchFamily="34" charset="0"/>
                <a:ea typeface="Calibri" pitchFamily="34" charset="-122"/>
                <a:cs typeface="Calibri" pitchFamily="34" charset="-120"/>
              </a:rPr>
              <a:t>Security Monitoring</a:t>
            </a:r>
            <a:endParaRPr lang="en-US" sz="1650" dirty="0"/>
          </a:p>
        </p:txBody>
      </p:sp>
      <p:sp>
        <p:nvSpPr>
          <p:cNvPr id="10" name="Text 7"/>
          <p:cNvSpPr/>
          <p:nvPr/>
        </p:nvSpPr>
        <p:spPr>
          <a:xfrm>
            <a:off x="960120" y="3840480"/>
            <a:ext cx="2788920" cy="2011680"/>
          </a:xfrm>
          <a:prstGeom prst="rect">
            <a:avLst/>
          </a:prstGeom>
          <a:noFill/>
          <a:ln/>
        </p:spPr>
        <p:txBody>
          <a:bodyPr wrap="square" rtlCol="0" anchor="t"/>
          <a:lstStyle/>
          <a:p>
            <a:pPr marL="0" indent="0">
              <a:buNone/>
            </a:pPr>
            <a:r>
              <a:rPr lang="en-US" sz="1250" dirty="0">
                <a:solidFill>
                  <a:srgbClr val="5C6B82"/>
                </a:solidFill>
                <a:latin typeface="Calibri" pitchFamily="34" charset="0"/>
                <a:ea typeface="Calibri" pitchFamily="34" charset="-122"/>
                <a:cs typeface="Calibri" pitchFamily="34" charset="-120"/>
              </a:rPr>
              <a:t>Wazuh SIEM on Ubuntu Server ingests Windows (Sysmon), Linux audit logs, and AWS CloudTrail.</a:t>
            </a:r>
            <a:endParaRPr lang="en-US" sz="1250" dirty="0"/>
          </a:p>
        </p:txBody>
      </p:sp>
      <p:sp>
        <p:nvSpPr>
          <p:cNvPr id="11" name="Shape 8"/>
          <p:cNvSpPr/>
          <p:nvPr/>
        </p:nvSpPr>
        <p:spPr>
          <a:xfrm>
            <a:off x="4389120" y="2103120"/>
            <a:ext cx="3429000" cy="3977640"/>
          </a:xfrm>
          <a:prstGeom prst="roundRect">
            <a:avLst>
              <a:gd name="adj" fmla="val 2667"/>
            </a:avLst>
          </a:prstGeom>
          <a:solidFill>
            <a:srgbClr val="FFFFFF"/>
          </a:solidFill>
          <a:ln w="12700">
            <a:solidFill>
              <a:srgbClr val="E2E8F1"/>
            </a:solidFill>
            <a:prstDash val="solid"/>
          </a:ln>
          <a:effectLst>
            <a:outerShdw blurRad="101600" dist="38100" dir="5400000" algn="bl" rotWithShape="0">
              <a:srgbClr val="0A1628">
                <a:alpha val="18000"/>
              </a:srgbClr>
            </a:outerShdw>
          </a:effectLst>
        </p:spPr>
        <p:txBody>
          <a:bodyPr/>
          <a:lstStyle/>
          <a:p>
            <a:endParaRPr lang="en-US"/>
          </a:p>
        </p:txBody>
      </p:sp>
      <p:sp>
        <p:nvSpPr>
          <p:cNvPr id="12" name="Shape 9"/>
          <p:cNvSpPr/>
          <p:nvPr/>
        </p:nvSpPr>
        <p:spPr>
          <a:xfrm>
            <a:off x="4709160" y="2423160"/>
            <a:ext cx="685800" cy="685800"/>
          </a:xfrm>
          <a:prstGeom prst="ellipse">
            <a:avLst/>
          </a:prstGeom>
          <a:solidFill>
            <a:srgbClr val="0A1628"/>
          </a:solidFill>
          <a:ln/>
        </p:spPr>
        <p:txBody>
          <a:bodyPr/>
          <a:lstStyle/>
          <a:p>
            <a:endParaRPr lang="en-US"/>
          </a:p>
        </p:txBody>
      </p:sp>
      <p:pic>
        <p:nvPicPr>
          <p:cNvPr id="13" name="Image 1" descr="/home/claude/pptx_build/icons/target.png"/>
          <p:cNvPicPr>
            <a:picLocks noChangeAspect="1"/>
          </p:cNvPicPr>
          <p:nvPr/>
        </p:nvPicPr>
        <p:blipFill>
          <a:blip r:embed="rId4"/>
          <a:stretch>
            <a:fillRect/>
          </a:stretch>
        </p:blipFill>
        <p:spPr>
          <a:xfrm>
            <a:off x="4873752" y="2587752"/>
            <a:ext cx="356616" cy="356616"/>
          </a:xfrm>
          <a:prstGeom prst="rect">
            <a:avLst/>
          </a:prstGeom>
        </p:spPr>
      </p:pic>
      <p:sp>
        <p:nvSpPr>
          <p:cNvPr id="14" name="Text 10"/>
          <p:cNvSpPr/>
          <p:nvPr/>
        </p:nvSpPr>
        <p:spPr>
          <a:xfrm>
            <a:off x="6995160" y="2377440"/>
            <a:ext cx="548640" cy="457200"/>
          </a:xfrm>
          <a:prstGeom prst="rect">
            <a:avLst/>
          </a:prstGeom>
          <a:noFill/>
          <a:ln/>
        </p:spPr>
        <p:txBody>
          <a:bodyPr wrap="square" rtlCol="0" anchor="ctr"/>
          <a:lstStyle/>
          <a:p>
            <a:pPr marL="0" indent="0" algn="r">
              <a:buNone/>
            </a:pPr>
            <a:r>
              <a:rPr lang="en-US" sz="2000" b="1" dirty="0">
                <a:solidFill>
                  <a:srgbClr val="E2E8F1"/>
                </a:solidFill>
                <a:latin typeface="Calibri" pitchFamily="34" charset="0"/>
                <a:ea typeface="Calibri" pitchFamily="34" charset="-122"/>
                <a:cs typeface="Calibri" pitchFamily="34" charset="-120"/>
              </a:rPr>
              <a:t>02</a:t>
            </a:r>
            <a:endParaRPr lang="en-US" sz="2000" dirty="0"/>
          </a:p>
        </p:txBody>
      </p:sp>
      <p:sp>
        <p:nvSpPr>
          <p:cNvPr id="15" name="Text 11"/>
          <p:cNvSpPr/>
          <p:nvPr/>
        </p:nvSpPr>
        <p:spPr>
          <a:xfrm>
            <a:off x="4709160" y="3337560"/>
            <a:ext cx="2788920" cy="457200"/>
          </a:xfrm>
          <a:prstGeom prst="rect">
            <a:avLst/>
          </a:prstGeom>
          <a:noFill/>
          <a:ln/>
        </p:spPr>
        <p:txBody>
          <a:bodyPr wrap="square" rtlCol="0" anchor="ctr"/>
          <a:lstStyle/>
          <a:p>
            <a:pPr marL="0" indent="0">
              <a:buNone/>
            </a:pPr>
            <a:r>
              <a:rPr lang="en-US" sz="1650" b="1" dirty="0">
                <a:solidFill>
                  <a:srgbClr val="0A1628"/>
                </a:solidFill>
                <a:latin typeface="Calibri" pitchFamily="34" charset="0"/>
                <a:ea typeface="Calibri" pitchFamily="34" charset="-122"/>
                <a:cs typeface="Calibri" pitchFamily="34" charset="-120"/>
              </a:rPr>
              <a:t>Detection Engineering</a:t>
            </a:r>
            <a:endParaRPr lang="en-US" sz="1650" dirty="0"/>
          </a:p>
        </p:txBody>
      </p:sp>
      <p:sp>
        <p:nvSpPr>
          <p:cNvPr id="16" name="Text 12"/>
          <p:cNvSpPr/>
          <p:nvPr/>
        </p:nvSpPr>
        <p:spPr>
          <a:xfrm>
            <a:off x="4709160" y="3840480"/>
            <a:ext cx="2788920" cy="2011680"/>
          </a:xfrm>
          <a:prstGeom prst="rect">
            <a:avLst/>
          </a:prstGeom>
          <a:noFill/>
          <a:ln/>
        </p:spPr>
        <p:txBody>
          <a:bodyPr wrap="square" rtlCol="0" anchor="t"/>
          <a:lstStyle/>
          <a:p>
            <a:pPr marL="0" indent="0">
              <a:buNone/>
            </a:pPr>
            <a:r>
              <a:rPr lang="en-US" sz="1250" dirty="0">
                <a:solidFill>
                  <a:srgbClr val="5C6B82"/>
                </a:solidFill>
                <a:latin typeface="Calibri" pitchFamily="34" charset="0"/>
                <a:ea typeface="Calibri" pitchFamily="34" charset="-122"/>
                <a:cs typeface="Calibri" pitchFamily="34" charset="-120"/>
              </a:rPr>
              <a:t>12 custom rules covering common attacker techniques, each mapped to MITRE ATT&amp;CK.</a:t>
            </a:r>
            <a:endParaRPr lang="en-US" sz="1250" dirty="0"/>
          </a:p>
        </p:txBody>
      </p:sp>
      <p:sp>
        <p:nvSpPr>
          <p:cNvPr id="17" name="Shape 13"/>
          <p:cNvSpPr/>
          <p:nvPr/>
        </p:nvSpPr>
        <p:spPr>
          <a:xfrm>
            <a:off x="8138160" y="2103120"/>
            <a:ext cx="3429000" cy="3977640"/>
          </a:xfrm>
          <a:prstGeom prst="roundRect">
            <a:avLst>
              <a:gd name="adj" fmla="val 2667"/>
            </a:avLst>
          </a:prstGeom>
          <a:solidFill>
            <a:srgbClr val="FFFFFF"/>
          </a:solidFill>
          <a:ln w="12700">
            <a:solidFill>
              <a:srgbClr val="E2E8F1"/>
            </a:solidFill>
            <a:prstDash val="solid"/>
          </a:ln>
          <a:effectLst>
            <a:outerShdw blurRad="101600" dist="38100" dir="5400000" algn="bl" rotWithShape="0">
              <a:srgbClr val="0A1628">
                <a:alpha val="18000"/>
              </a:srgbClr>
            </a:outerShdw>
          </a:effectLst>
        </p:spPr>
        <p:txBody>
          <a:bodyPr/>
          <a:lstStyle/>
          <a:p>
            <a:endParaRPr lang="en-US"/>
          </a:p>
        </p:txBody>
      </p:sp>
      <p:sp>
        <p:nvSpPr>
          <p:cNvPr id="18" name="Shape 14"/>
          <p:cNvSpPr/>
          <p:nvPr/>
        </p:nvSpPr>
        <p:spPr>
          <a:xfrm>
            <a:off x="8458200" y="2423160"/>
            <a:ext cx="685800" cy="685800"/>
          </a:xfrm>
          <a:prstGeom prst="ellipse">
            <a:avLst/>
          </a:prstGeom>
          <a:solidFill>
            <a:srgbClr val="0A1628"/>
          </a:solidFill>
          <a:ln/>
        </p:spPr>
        <p:txBody>
          <a:bodyPr/>
          <a:lstStyle/>
          <a:p>
            <a:endParaRPr lang="en-US"/>
          </a:p>
        </p:txBody>
      </p:sp>
      <p:pic>
        <p:nvPicPr>
          <p:cNvPr id="19" name="Image 2" descr="/home/claude/pptx_build/icons/cpu.png"/>
          <p:cNvPicPr>
            <a:picLocks noChangeAspect="1"/>
          </p:cNvPicPr>
          <p:nvPr/>
        </p:nvPicPr>
        <p:blipFill>
          <a:blip r:embed="rId5"/>
          <a:stretch>
            <a:fillRect/>
          </a:stretch>
        </p:blipFill>
        <p:spPr>
          <a:xfrm>
            <a:off x="8622792" y="2587752"/>
            <a:ext cx="356616" cy="356616"/>
          </a:xfrm>
          <a:prstGeom prst="rect">
            <a:avLst/>
          </a:prstGeom>
        </p:spPr>
      </p:pic>
      <p:sp>
        <p:nvSpPr>
          <p:cNvPr id="20" name="Text 15"/>
          <p:cNvSpPr/>
          <p:nvPr/>
        </p:nvSpPr>
        <p:spPr>
          <a:xfrm>
            <a:off x="10744200" y="2377440"/>
            <a:ext cx="548640" cy="457200"/>
          </a:xfrm>
          <a:prstGeom prst="rect">
            <a:avLst/>
          </a:prstGeom>
          <a:noFill/>
          <a:ln/>
        </p:spPr>
        <p:txBody>
          <a:bodyPr wrap="square" rtlCol="0" anchor="ctr"/>
          <a:lstStyle/>
          <a:p>
            <a:pPr marL="0" indent="0" algn="r">
              <a:buNone/>
            </a:pPr>
            <a:r>
              <a:rPr lang="en-US" sz="2000" b="1" dirty="0">
                <a:solidFill>
                  <a:srgbClr val="E2E8F1"/>
                </a:solidFill>
                <a:latin typeface="Calibri" pitchFamily="34" charset="0"/>
                <a:ea typeface="Calibri" pitchFamily="34" charset="-122"/>
                <a:cs typeface="Calibri" pitchFamily="34" charset="-120"/>
              </a:rPr>
              <a:t>03</a:t>
            </a:r>
            <a:endParaRPr lang="en-US" sz="2000" dirty="0"/>
          </a:p>
        </p:txBody>
      </p:sp>
      <p:sp>
        <p:nvSpPr>
          <p:cNvPr id="21" name="Text 16"/>
          <p:cNvSpPr/>
          <p:nvPr/>
        </p:nvSpPr>
        <p:spPr>
          <a:xfrm>
            <a:off x="8458200" y="3337560"/>
            <a:ext cx="2788920" cy="457200"/>
          </a:xfrm>
          <a:prstGeom prst="rect">
            <a:avLst/>
          </a:prstGeom>
          <a:noFill/>
          <a:ln/>
        </p:spPr>
        <p:txBody>
          <a:bodyPr wrap="square" rtlCol="0" anchor="ctr"/>
          <a:lstStyle/>
          <a:p>
            <a:pPr marL="0" indent="0">
              <a:buNone/>
            </a:pPr>
            <a:r>
              <a:rPr lang="en-US" sz="1650" b="1" dirty="0">
                <a:solidFill>
                  <a:srgbClr val="0A1628"/>
                </a:solidFill>
                <a:latin typeface="Calibri" pitchFamily="34" charset="0"/>
                <a:ea typeface="Calibri" pitchFamily="34" charset="-122"/>
                <a:cs typeface="Calibri" pitchFamily="34" charset="-120"/>
              </a:rPr>
              <a:t>AI-Assisted Analysis</a:t>
            </a:r>
            <a:endParaRPr lang="en-US" sz="1650" dirty="0"/>
          </a:p>
        </p:txBody>
      </p:sp>
      <p:sp>
        <p:nvSpPr>
          <p:cNvPr id="22" name="Text 17"/>
          <p:cNvSpPr/>
          <p:nvPr/>
        </p:nvSpPr>
        <p:spPr>
          <a:xfrm>
            <a:off x="8458200" y="3840480"/>
            <a:ext cx="2788920" cy="2011680"/>
          </a:xfrm>
          <a:prstGeom prst="rect">
            <a:avLst/>
          </a:prstGeom>
          <a:noFill/>
          <a:ln/>
        </p:spPr>
        <p:txBody>
          <a:bodyPr wrap="square" rtlCol="0" anchor="t"/>
          <a:lstStyle/>
          <a:p>
            <a:pPr marL="0" indent="0">
              <a:buNone/>
            </a:pPr>
            <a:r>
              <a:rPr lang="en-US" sz="1250" dirty="0">
                <a:solidFill>
                  <a:srgbClr val="5C6B82"/>
                </a:solidFill>
                <a:latin typeface="Calibri" pitchFamily="34" charset="0"/>
                <a:ea typeface="Calibri" pitchFamily="34" charset="-122"/>
                <a:cs typeface="Calibri" pitchFamily="34" charset="-120"/>
              </a:rPr>
              <a:t>LangChain + Groq-hosted Llama 3.1 8B Instant triages exported alerts as a tier-1 assistant.</a:t>
            </a:r>
            <a:endParaRPr lang="en-US" sz="1250" dirty="0"/>
          </a:p>
        </p:txBody>
      </p:sp>
      <p:sp>
        <p:nvSpPr>
          <p:cNvPr id="23" name="Text 18"/>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CA0BC"/>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OBJECTIVES</a:t>
            </a:r>
            <a:endParaRPr lang="en-US" sz="1200" dirty="0"/>
          </a:p>
        </p:txBody>
      </p:sp>
      <p:sp>
        <p:nvSpPr>
          <p:cNvPr id="3" name="Text 1"/>
          <p:cNvSpPr/>
          <p:nvPr/>
        </p:nvSpPr>
        <p:spPr>
          <a:xfrm>
            <a:off x="640080" y="822960"/>
            <a:ext cx="8686800" cy="640080"/>
          </a:xfrm>
          <a:prstGeom prst="rect">
            <a:avLst/>
          </a:prstGeom>
          <a:noFill/>
          <a:ln/>
        </p:spPr>
        <p:txBody>
          <a:bodyPr wrap="square" rtlCol="0" anchor="ctr"/>
          <a:lstStyle/>
          <a:p>
            <a:pPr marL="0" indent="0">
              <a:buNone/>
            </a:pPr>
            <a:r>
              <a:rPr lang="en-US" sz="2800" b="1" dirty="0">
                <a:solidFill>
                  <a:srgbClr val="0A1628"/>
                </a:solidFill>
                <a:latin typeface="Calibri" pitchFamily="34" charset="0"/>
                <a:ea typeface="Calibri" pitchFamily="34" charset="-122"/>
                <a:cs typeface="Calibri" pitchFamily="34" charset="-120"/>
              </a:rPr>
              <a:t>What the project set out to prove</a:t>
            </a:r>
            <a:endParaRPr lang="en-US" sz="2800" dirty="0"/>
          </a:p>
        </p:txBody>
      </p:sp>
      <p:sp>
        <p:nvSpPr>
          <p:cNvPr id="4" name="Shape 2"/>
          <p:cNvSpPr/>
          <p:nvPr/>
        </p:nvSpPr>
        <p:spPr>
          <a:xfrm>
            <a:off x="640080" y="1691640"/>
            <a:ext cx="566928" cy="566928"/>
          </a:xfrm>
          <a:prstGeom prst="ellipse">
            <a:avLst/>
          </a:prstGeom>
          <a:solidFill>
            <a:srgbClr val="00C2D1"/>
          </a:solidFill>
          <a:ln/>
        </p:spPr>
        <p:txBody>
          <a:bodyPr/>
          <a:lstStyle/>
          <a:p>
            <a:endParaRPr lang="en-US"/>
          </a:p>
        </p:txBody>
      </p:sp>
      <p:pic>
        <p:nvPicPr>
          <p:cNvPr id="5" name="Image 0" descr="/home/claude/pptx_build/icons/server.png"/>
          <p:cNvPicPr>
            <a:picLocks noChangeAspect="1"/>
          </p:cNvPicPr>
          <p:nvPr/>
        </p:nvPicPr>
        <p:blipFill>
          <a:blip r:embed="rId3"/>
          <a:stretch>
            <a:fillRect/>
          </a:stretch>
        </p:blipFill>
        <p:spPr>
          <a:xfrm>
            <a:off x="781812" y="1833372"/>
            <a:ext cx="283464" cy="283464"/>
          </a:xfrm>
          <a:prstGeom prst="rect">
            <a:avLst/>
          </a:prstGeom>
        </p:spPr>
      </p:pic>
      <p:sp>
        <p:nvSpPr>
          <p:cNvPr id="6" name="Text 3"/>
          <p:cNvSpPr/>
          <p:nvPr/>
        </p:nvSpPr>
        <p:spPr>
          <a:xfrm>
            <a:off x="1389888" y="1673352"/>
            <a:ext cx="4572000" cy="777240"/>
          </a:xfrm>
          <a:prstGeom prst="rect">
            <a:avLst/>
          </a:prstGeom>
          <a:noFill/>
          <a:ln/>
        </p:spPr>
        <p:txBody>
          <a:bodyPr wrap="square" rtlCol="0" anchor="ctr"/>
          <a:lstStyle/>
          <a:p>
            <a:pPr marL="0" indent="0">
              <a:buNone/>
            </a:pPr>
            <a:r>
              <a:rPr lang="en-US" sz="1350" dirty="0">
                <a:solidFill>
                  <a:srgbClr val="0A1628"/>
                </a:solidFill>
                <a:latin typeface="Calibri" pitchFamily="34" charset="0"/>
                <a:ea typeface="Calibri" pitchFamily="34" charset="-122"/>
                <a:cs typeface="Calibri" pitchFamily="34" charset="-120"/>
              </a:rPr>
              <a:t>Deploy a functional Wazuh SIEM with live log collection</a:t>
            </a:r>
            <a:endParaRPr lang="en-US" sz="1350" dirty="0"/>
          </a:p>
        </p:txBody>
      </p:sp>
      <p:sp>
        <p:nvSpPr>
          <p:cNvPr id="7" name="Shape 4"/>
          <p:cNvSpPr/>
          <p:nvPr/>
        </p:nvSpPr>
        <p:spPr>
          <a:xfrm>
            <a:off x="6355080" y="1691640"/>
            <a:ext cx="566928" cy="566928"/>
          </a:xfrm>
          <a:prstGeom prst="ellipse">
            <a:avLst/>
          </a:prstGeom>
          <a:solidFill>
            <a:srgbClr val="00C2D1"/>
          </a:solidFill>
          <a:ln/>
        </p:spPr>
        <p:txBody>
          <a:bodyPr/>
          <a:lstStyle/>
          <a:p>
            <a:endParaRPr lang="en-US"/>
          </a:p>
        </p:txBody>
      </p:sp>
      <p:pic>
        <p:nvPicPr>
          <p:cNvPr id="8" name="Image 1" descr="/home/claude/pptx_build/icons/target.png"/>
          <p:cNvPicPr>
            <a:picLocks noChangeAspect="1"/>
          </p:cNvPicPr>
          <p:nvPr/>
        </p:nvPicPr>
        <p:blipFill>
          <a:blip r:embed="rId4"/>
          <a:stretch>
            <a:fillRect/>
          </a:stretch>
        </p:blipFill>
        <p:spPr>
          <a:xfrm>
            <a:off x="6496812" y="1833372"/>
            <a:ext cx="283464" cy="283464"/>
          </a:xfrm>
          <a:prstGeom prst="rect">
            <a:avLst/>
          </a:prstGeom>
        </p:spPr>
      </p:pic>
      <p:sp>
        <p:nvSpPr>
          <p:cNvPr id="9" name="Text 5"/>
          <p:cNvSpPr/>
          <p:nvPr/>
        </p:nvSpPr>
        <p:spPr>
          <a:xfrm>
            <a:off x="7104888" y="1673352"/>
            <a:ext cx="4572000" cy="777240"/>
          </a:xfrm>
          <a:prstGeom prst="rect">
            <a:avLst/>
          </a:prstGeom>
          <a:noFill/>
          <a:ln/>
        </p:spPr>
        <p:txBody>
          <a:bodyPr wrap="square" rtlCol="0" anchor="ctr"/>
          <a:lstStyle/>
          <a:p>
            <a:pPr marL="0" indent="0">
              <a:buNone/>
            </a:pPr>
            <a:r>
              <a:rPr lang="en-US" sz="1350" dirty="0">
                <a:solidFill>
                  <a:srgbClr val="0A1628"/>
                </a:solidFill>
                <a:latin typeface="Calibri" pitchFamily="34" charset="0"/>
                <a:ea typeface="Calibri" pitchFamily="34" charset="-122"/>
                <a:cs typeface="Calibri" pitchFamily="34" charset="-120"/>
              </a:rPr>
              <a:t>Build 10+ custom detection rules mapped to MITRE ATT&amp;CK</a:t>
            </a:r>
            <a:endParaRPr lang="en-US" sz="1350" dirty="0"/>
          </a:p>
        </p:txBody>
      </p:sp>
      <p:sp>
        <p:nvSpPr>
          <p:cNvPr id="10" name="Shape 6"/>
          <p:cNvSpPr/>
          <p:nvPr/>
        </p:nvSpPr>
        <p:spPr>
          <a:xfrm>
            <a:off x="640080" y="2651760"/>
            <a:ext cx="566928" cy="566928"/>
          </a:xfrm>
          <a:prstGeom prst="ellipse">
            <a:avLst/>
          </a:prstGeom>
          <a:solidFill>
            <a:srgbClr val="00C2D1"/>
          </a:solidFill>
          <a:ln/>
        </p:spPr>
        <p:txBody>
          <a:bodyPr/>
          <a:lstStyle/>
          <a:p>
            <a:endParaRPr lang="en-US"/>
          </a:p>
        </p:txBody>
      </p:sp>
      <p:pic>
        <p:nvPicPr>
          <p:cNvPr id="11" name="Image 2" descr="/home/claude/pptx_build/icons/activity.png"/>
          <p:cNvPicPr>
            <a:picLocks noChangeAspect="1"/>
          </p:cNvPicPr>
          <p:nvPr/>
        </p:nvPicPr>
        <p:blipFill>
          <a:blip r:embed="rId5"/>
          <a:stretch>
            <a:fillRect/>
          </a:stretch>
        </p:blipFill>
        <p:spPr>
          <a:xfrm>
            <a:off x="781812" y="2793492"/>
            <a:ext cx="283464" cy="283464"/>
          </a:xfrm>
          <a:prstGeom prst="rect">
            <a:avLst/>
          </a:prstGeom>
        </p:spPr>
      </p:pic>
      <p:sp>
        <p:nvSpPr>
          <p:cNvPr id="12" name="Text 7"/>
          <p:cNvSpPr/>
          <p:nvPr/>
        </p:nvSpPr>
        <p:spPr>
          <a:xfrm>
            <a:off x="1389888" y="2633472"/>
            <a:ext cx="4572000" cy="777240"/>
          </a:xfrm>
          <a:prstGeom prst="rect">
            <a:avLst/>
          </a:prstGeom>
          <a:noFill/>
          <a:ln/>
        </p:spPr>
        <p:txBody>
          <a:bodyPr wrap="square" rtlCol="0" anchor="ctr"/>
          <a:lstStyle/>
          <a:p>
            <a:pPr marL="0" indent="0">
              <a:buNone/>
            </a:pPr>
            <a:r>
              <a:rPr lang="en-US" sz="1350" dirty="0">
                <a:solidFill>
                  <a:srgbClr val="0A1628"/>
                </a:solidFill>
                <a:latin typeface="Calibri" pitchFamily="34" charset="0"/>
                <a:ea typeface="Calibri" pitchFamily="34" charset="-122"/>
                <a:cs typeface="Calibri" pitchFamily="34" charset="-120"/>
              </a:rPr>
              <a:t>Design real-time SOC monitoring dashboards</a:t>
            </a:r>
            <a:endParaRPr lang="en-US" sz="1350" dirty="0"/>
          </a:p>
        </p:txBody>
      </p:sp>
      <p:sp>
        <p:nvSpPr>
          <p:cNvPr id="13" name="Shape 8"/>
          <p:cNvSpPr/>
          <p:nvPr/>
        </p:nvSpPr>
        <p:spPr>
          <a:xfrm>
            <a:off x="6355080" y="2651760"/>
            <a:ext cx="566928" cy="566928"/>
          </a:xfrm>
          <a:prstGeom prst="ellipse">
            <a:avLst/>
          </a:prstGeom>
          <a:solidFill>
            <a:srgbClr val="00C2D1"/>
          </a:solidFill>
          <a:ln/>
        </p:spPr>
        <p:txBody>
          <a:bodyPr/>
          <a:lstStyle/>
          <a:p>
            <a:endParaRPr lang="en-US"/>
          </a:p>
        </p:txBody>
      </p:sp>
      <p:pic>
        <p:nvPicPr>
          <p:cNvPr id="14" name="Image 3" descr="/home/claude/pptx_build/icons/filetext.png"/>
          <p:cNvPicPr>
            <a:picLocks noChangeAspect="1"/>
          </p:cNvPicPr>
          <p:nvPr/>
        </p:nvPicPr>
        <p:blipFill>
          <a:blip r:embed="rId6"/>
          <a:stretch>
            <a:fillRect/>
          </a:stretch>
        </p:blipFill>
        <p:spPr>
          <a:xfrm>
            <a:off x="6496812" y="2793492"/>
            <a:ext cx="283464" cy="283464"/>
          </a:xfrm>
          <a:prstGeom prst="rect">
            <a:avLst/>
          </a:prstGeom>
        </p:spPr>
      </p:pic>
      <p:sp>
        <p:nvSpPr>
          <p:cNvPr id="15" name="Text 9"/>
          <p:cNvSpPr/>
          <p:nvPr/>
        </p:nvSpPr>
        <p:spPr>
          <a:xfrm>
            <a:off x="7104888" y="2633472"/>
            <a:ext cx="4572000" cy="777240"/>
          </a:xfrm>
          <a:prstGeom prst="rect">
            <a:avLst/>
          </a:prstGeom>
          <a:noFill/>
          <a:ln/>
        </p:spPr>
        <p:txBody>
          <a:bodyPr wrap="square" rtlCol="0" anchor="ctr"/>
          <a:lstStyle/>
          <a:p>
            <a:pPr marL="0" indent="0">
              <a:buNone/>
            </a:pPr>
            <a:r>
              <a:rPr lang="en-US" sz="1350" dirty="0">
                <a:solidFill>
                  <a:srgbClr val="0A1628"/>
                </a:solidFill>
                <a:latin typeface="Calibri" pitchFamily="34" charset="0"/>
                <a:ea typeface="Calibri" pitchFamily="34" charset="-122"/>
                <a:cs typeface="Calibri" pitchFamily="34" charset="-120"/>
              </a:rPr>
              <a:t>Write IR playbooks aligned to NIST SP 800-61 Rev. 2</a:t>
            </a:r>
            <a:endParaRPr lang="en-US" sz="1350" dirty="0"/>
          </a:p>
        </p:txBody>
      </p:sp>
      <p:sp>
        <p:nvSpPr>
          <p:cNvPr id="16" name="Shape 10"/>
          <p:cNvSpPr/>
          <p:nvPr/>
        </p:nvSpPr>
        <p:spPr>
          <a:xfrm>
            <a:off x="640080" y="3611880"/>
            <a:ext cx="566928" cy="566928"/>
          </a:xfrm>
          <a:prstGeom prst="ellipse">
            <a:avLst/>
          </a:prstGeom>
          <a:solidFill>
            <a:srgbClr val="00C2D1"/>
          </a:solidFill>
          <a:ln/>
        </p:spPr>
        <p:txBody>
          <a:bodyPr/>
          <a:lstStyle/>
          <a:p>
            <a:endParaRPr lang="en-US"/>
          </a:p>
        </p:txBody>
      </p:sp>
      <p:pic>
        <p:nvPicPr>
          <p:cNvPr id="17" name="Image 4" descr="/home/claude/pptx_build/icons/cpu.png"/>
          <p:cNvPicPr>
            <a:picLocks noChangeAspect="1"/>
          </p:cNvPicPr>
          <p:nvPr/>
        </p:nvPicPr>
        <p:blipFill>
          <a:blip r:embed="rId7"/>
          <a:stretch>
            <a:fillRect/>
          </a:stretch>
        </p:blipFill>
        <p:spPr>
          <a:xfrm>
            <a:off x="781812" y="3753612"/>
            <a:ext cx="283464" cy="283464"/>
          </a:xfrm>
          <a:prstGeom prst="rect">
            <a:avLst/>
          </a:prstGeom>
        </p:spPr>
      </p:pic>
      <p:sp>
        <p:nvSpPr>
          <p:cNvPr id="18" name="Text 11"/>
          <p:cNvSpPr/>
          <p:nvPr/>
        </p:nvSpPr>
        <p:spPr>
          <a:xfrm>
            <a:off x="1389888" y="3593592"/>
            <a:ext cx="4572000" cy="777240"/>
          </a:xfrm>
          <a:prstGeom prst="rect">
            <a:avLst/>
          </a:prstGeom>
          <a:noFill/>
          <a:ln/>
        </p:spPr>
        <p:txBody>
          <a:bodyPr wrap="square" rtlCol="0" anchor="ctr"/>
          <a:lstStyle/>
          <a:p>
            <a:pPr marL="0" indent="0">
              <a:buNone/>
            </a:pPr>
            <a:r>
              <a:rPr lang="en-US" sz="1350" dirty="0">
                <a:solidFill>
                  <a:srgbClr val="0A1628"/>
                </a:solidFill>
                <a:latin typeface="Calibri" pitchFamily="34" charset="0"/>
                <a:ea typeface="Calibri" pitchFamily="34" charset="-122"/>
                <a:cs typeface="Calibri" pitchFamily="34" charset="-120"/>
              </a:rPr>
              <a:t>Build an AI tier-1 assistant with LangChain + an LLM</a:t>
            </a:r>
            <a:endParaRPr lang="en-US" sz="1350" dirty="0"/>
          </a:p>
        </p:txBody>
      </p:sp>
      <p:sp>
        <p:nvSpPr>
          <p:cNvPr id="19" name="Shape 12"/>
          <p:cNvSpPr/>
          <p:nvPr/>
        </p:nvSpPr>
        <p:spPr>
          <a:xfrm>
            <a:off x="6355080" y="3611880"/>
            <a:ext cx="566928" cy="566928"/>
          </a:xfrm>
          <a:prstGeom prst="ellipse">
            <a:avLst/>
          </a:prstGeom>
          <a:solidFill>
            <a:srgbClr val="00C2D1"/>
          </a:solidFill>
          <a:ln/>
        </p:spPr>
        <p:txBody>
          <a:bodyPr/>
          <a:lstStyle/>
          <a:p>
            <a:endParaRPr lang="en-US"/>
          </a:p>
        </p:txBody>
      </p:sp>
      <p:pic>
        <p:nvPicPr>
          <p:cNvPr id="20" name="Image 5" descr="/home/claude/pptx_build/icons/lock.png"/>
          <p:cNvPicPr>
            <a:picLocks noChangeAspect="1"/>
          </p:cNvPicPr>
          <p:nvPr/>
        </p:nvPicPr>
        <p:blipFill>
          <a:blip r:embed="rId8"/>
          <a:stretch>
            <a:fillRect/>
          </a:stretch>
        </p:blipFill>
        <p:spPr>
          <a:xfrm>
            <a:off x="6496812" y="3753612"/>
            <a:ext cx="283464" cy="283464"/>
          </a:xfrm>
          <a:prstGeom prst="rect">
            <a:avLst/>
          </a:prstGeom>
        </p:spPr>
      </p:pic>
      <p:sp>
        <p:nvSpPr>
          <p:cNvPr id="21" name="Text 13"/>
          <p:cNvSpPr/>
          <p:nvPr/>
        </p:nvSpPr>
        <p:spPr>
          <a:xfrm>
            <a:off x="7104888" y="3593592"/>
            <a:ext cx="4572000" cy="777240"/>
          </a:xfrm>
          <a:prstGeom prst="rect">
            <a:avLst/>
          </a:prstGeom>
          <a:noFill/>
          <a:ln/>
        </p:spPr>
        <p:txBody>
          <a:bodyPr wrap="square" rtlCol="0" anchor="ctr"/>
          <a:lstStyle/>
          <a:p>
            <a:pPr marL="0" indent="0">
              <a:buNone/>
            </a:pPr>
            <a:r>
              <a:rPr lang="en-US" sz="1350" dirty="0">
                <a:solidFill>
                  <a:srgbClr val="0A1628"/>
                </a:solidFill>
                <a:latin typeface="Calibri" pitchFamily="34" charset="0"/>
                <a:ea typeface="Calibri" pitchFamily="34" charset="-122"/>
                <a:cs typeface="Calibri" pitchFamily="34" charset="-120"/>
              </a:rPr>
              <a:t>Enforce responsible-AI guardrails and human approval</a:t>
            </a:r>
            <a:endParaRPr lang="en-US" sz="1350" dirty="0"/>
          </a:p>
        </p:txBody>
      </p:sp>
      <p:sp>
        <p:nvSpPr>
          <p:cNvPr id="22" name="Text 14"/>
          <p:cNvSpPr/>
          <p:nvPr/>
        </p:nvSpPr>
        <p:spPr>
          <a:xfrm>
            <a:off x="640080" y="4709160"/>
            <a:ext cx="10789920" cy="411480"/>
          </a:xfrm>
          <a:prstGeom prst="rect">
            <a:avLst/>
          </a:prstGeom>
          <a:noFill/>
          <a:ln/>
        </p:spPr>
        <p:txBody>
          <a:bodyPr wrap="square" rtlCol="0" anchor="ctr"/>
          <a:lstStyle/>
          <a:p>
            <a:pPr marL="0" indent="0">
              <a:buNone/>
            </a:pPr>
            <a:r>
              <a:rPr lang="en-US" sz="1300" i="1" dirty="0">
                <a:solidFill>
                  <a:srgbClr val="00C2D1"/>
                </a:solidFill>
                <a:latin typeface="Calibri" pitchFamily="34" charset="0"/>
                <a:ea typeface="Calibri" pitchFamily="34" charset="-122"/>
                <a:cs typeface="Calibri" pitchFamily="34" charset="-120"/>
              </a:rPr>
              <a:t>Guided by two evaluation metrics: MTTD (Mean Time to Detect) and MTTR (Mean Time to Respond).</a:t>
            </a:r>
            <a:endParaRPr lang="en-US" sz="1300" dirty="0"/>
          </a:p>
        </p:txBody>
      </p:sp>
      <p:sp>
        <p:nvSpPr>
          <p:cNvPr id="23" name="Text 15"/>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CA0BC"/>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buNone/>
            </a:pPr>
            <a:r>
              <a:rPr lang="en-US" sz="1200" b="1" kern="0" spc="200" dirty="0">
                <a:solidFill>
                  <a:srgbClr val="6FE4EC"/>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640080" y="777240"/>
            <a:ext cx="73152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Five components, one pipeline</a:t>
            </a:r>
            <a:endParaRPr lang="en-US" sz="2700" dirty="0"/>
          </a:p>
        </p:txBody>
      </p:sp>
      <p:pic>
        <p:nvPicPr>
          <p:cNvPr id="4" name="Image 0" descr="/home/claude/pptx_build/report_images/architecture.png"/>
          <p:cNvPicPr>
            <a:picLocks noChangeAspect="1"/>
          </p:cNvPicPr>
          <p:nvPr/>
        </p:nvPicPr>
        <p:blipFill>
          <a:blip r:embed="rId3"/>
          <a:srcRect/>
          <a:stretch/>
        </p:blipFill>
        <p:spPr>
          <a:xfrm>
            <a:off x="502920" y="1508760"/>
            <a:ext cx="5577840" cy="5074920"/>
          </a:xfrm>
          <a:prstGeom prst="rect">
            <a:avLst/>
          </a:prstGeom>
        </p:spPr>
      </p:pic>
      <p:sp>
        <p:nvSpPr>
          <p:cNvPr id="5" name="Shape 2"/>
          <p:cNvSpPr/>
          <p:nvPr/>
        </p:nvSpPr>
        <p:spPr>
          <a:xfrm>
            <a:off x="6446520" y="1554480"/>
            <a:ext cx="457200" cy="457200"/>
          </a:xfrm>
          <a:prstGeom prst="ellipse">
            <a:avLst/>
          </a:prstGeom>
          <a:solidFill>
            <a:srgbClr val="00C2D1"/>
          </a:solidFill>
          <a:ln/>
        </p:spPr>
        <p:txBody>
          <a:bodyPr/>
          <a:lstStyle/>
          <a:p>
            <a:endParaRPr lang="en-US"/>
          </a:p>
        </p:txBody>
      </p:sp>
      <p:pic>
        <p:nvPicPr>
          <p:cNvPr id="6" name="Image 1" descr="/home/claude/pptx_build/icons/server.png"/>
          <p:cNvPicPr>
            <a:picLocks noChangeAspect="1"/>
          </p:cNvPicPr>
          <p:nvPr/>
        </p:nvPicPr>
        <p:blipFill>
          <a:blip r:embed="rId4"/>
          <a:stretch>
            <a:fillRect/>
          </a:stretch>
        </p:blipFill>
        <p:spPr>
          <a:xfrm>
            <a:off x="6560820" y="1668780"/>
            <a:ext cx="228600" cy="228600"/>
          </a:xfrm>
          <a:prstGeom prst="rect">
            <a:avLst/>
          </a:prstGeom>
        </p:spPr>
      </p:pic>
      <p:sp>
        <p:nvSpPr>
          <p:cNvPr id="7" name="Text 3"/>
          <p:cNvSpPr/>
          <p:nvPr/>
        </p:nvSpPr>
        <p:spPr>
          <a:xfrm>
            <a:off x="7040880" y="1508760"/>
            <a:ext cx="45720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Endpoint Layer</a:t>
            </a:r>
            <a:endParaRPr lang="en-US" sz="1400" dirty="0"/>
          </a:p>
        </p:txBody>
      </p:sp>
      <p:sp>
        <p:nvSpPr>
          <p:cNvPr id="8" name="Text 4"/>
          <p:cNvSpPr/>
          <p:nvPr/>
        </p:nvSpPr>
        <p:spPr>
          <a:xfrm>
            <a:off x="7040880" y="1819656"/>
            <a:ext cx="4663440" cy="365760"/>
          </a:xfrm>
          <a:prstGeom prst="rect">
            <a:avLst/>
          </a:prstGeom>
          <a:noFill/>
          <a:ln/>
        </p:spPr>
        <p:txBody>
          <a:bodyPr wrap="square" rtlCol="0" anchor="ctr"/>
          <a:lstStyle/>
          <a:p>
            <a:pPr marL="0" indent="0">
              <a:buNone/>
            </a:pPr>
            <a:r>
              <a:rPr lang="en-US" sz="1150" dirty="0">
                <a:solidFill>
                  <a:srgbClr val="8CA0BC"/>
                </a:solidFill>
                <a:latin typeface="Calibri" pitchFamily="34" charset="0"/>
                <a:ea typeface="Calibri" pitchFamily="34" charset="-122"/>
                <a:cs typeface="Calibri" pitchFamily="34" charset="-120"/>
              </a:rPr>
              <a:t>Windows Server 2019 (Sysmon) + Ubuntu (auditd)</a:t>
            </a:r>
            <a:endParaRPr lang="en-US" sz="1150" dirty="0"/>
          </a:p>
        </p:txBody>
      </p:sp>
      <p:sp>
        <p:nvSpPr>
          <p:cNvPr id="9" name="Shape 5"/>
          <p:cNvSpPr/>
          <p:nvPr/>
        </p:nvSpPr>
        <p:spPr>
          <a:xfrm>
            <a:off x="6446520" y="2487168"/>
            <a:ext cx="457200" cy="457200"/>
          </a:xfrm>
          <a:prstGeom prst="ellipse">
            <a:avLst/>
          </a:prstGeom>
          <a:solidFill>
            <a:srgbClr val="00C2D1"/>
          </a:solidFill>
          <a:ln/>
        </p:spPr>
        <p:txBody>
          <a:bodyPr/>
          <a:lstStyle/>
          <a:p>
            <a:endParaRPr lang="en-US"/>
          </a:p>
        </p:txBody>
      </p:sp>
      <p:pic>
        <p:nvPicPr>
          <p:cNvPr id="10" name="Image 2" descr="/home/claude/pptx_build/icons/database.png"/>
          <p:cNvPicPr>
            <a:picLocks noChangeAspect="1"/>
          </p:cNvPicPr>
          <p:nvPr/>
        </p:nvPicPr>
        <p:blipFill>
          <a:blip r:embed="rId5"/>
          <a:stretch>
            <a:fillRect/>
          </a:stretch>
        </p:blipFill>
        <p:spPr>
          <a:xfrm>
            <a:off x="6560820" y="2601468"/>
            <a:ext cx="228600" cy="228600"/>
          </a:xfrm>
          <a:prstGeom prst="rect">
            <a:avLst/>
          </a:prstGeom>
        </p:spPr>
      </p:pic>
      <p:sp>
        <p:nvSpPr>
          <p:cNvPr id="11" name="Text 6"/>
          <p:cNvSpPr/>
          <p:nvPr/>
        </p:nvSpPr>
        <p:spPr>
          <a:xfrm>
            <a:off x="7040880" y="2441448"/>
            <a:ext cx="45720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SIEM Layer</a:t>
            </a:r>
            <a:endParaRPr lang="en-US" sz="1400" dirty="0"/>
          </a:p>
        </p:txBody>
      </p:sp>
      <p:sp>
        <p:nvSpPr>
          <p:cNvPr id="12" name="Text 7"/>
          <p:cNvSpPr/>
          <p:nvPr/>
        </p:nvSpPr>
        <p:spPr>
          <a:xfrm>
            <a:off x="7040880" y="2752344"/>
            <a:ext cx="4663440" cy="365760"/>
          </a:xfrm>
          <a:prstGeom prst="rect">
            <a:avLst/>
          </a:prstGeom>
          <a:noFill/>
          <a:ln/>
        </p:spPr>
        <p:txBody>
          <a:bodyPr wrap="square" rtlCol="0" anchor="ctr"/>
          <a:lstStyle/>
          <a:p>
            <a:pPr marL="0" indent="0">
              <a:buNone/>
            </a:pPr>
            <a:r>
              <a:rPr lang="en-US" sz="1150" dirty="0">
                <a:solidFill>
                  <a:srgbClr val="8CA0BC"/>
                </a:solidFill>
                <a:latin typeface="Calibri" pitchFamily="34" charset="0"/>
                <a:ea typeface="Calibri" pitchFamily="34" charset="-122"/>
                <a:cs typeface="Calibri" pitchFamily="34" charset="-120"/>
              </a:rPr>
              <a:t>Wazuh Manager, OpenSearch Indexer, Dashboard</a:t>
            </a:r>
            <a:endParaRPr lang="en-US" sz="1150" dirty="0"/>
          </a:p>
        </p:txBody>
      </p:sp>
      <p:sp>
        <p:nvSpPr>
          <p:cNvPr id="13" name="Shape 8"/>
          <p:cNvSpPr/>
          <p:nvPr/>
        </p:nvSpPr>
        <p:spPr>
          <a:xfrm>
            <a:off x="6446520" y="3419856"/>
            <a:ext cx="457200" cy="457200"/>
          </a:xfrm>
          <a:prstGeom prst="ellipse">
            <a:avLst/>
          </a:prstGeom>
          <a:solidFill>
            <a:srgbClr val="00C2D1"/>
          </a:solidFill>
          <a:ln/>
        </p:spPr>
        <p:txBody>
          <a:bodyPr/>
          <a:lstStyle/>
          <a:p>
            <a:endParaRPr lang="en-US"/>
          </a:p>
        </p:txBody>
      </p:sp>
      <p:pic>
        <p:nvPicPr>
          <p:cNvPr id="14" name="Image 3" descr="/home/claude/pptx_build/icons/terminal.png"/>
          <p:cNvPicPr>
            <a:picLocks noChangeAspect="1"/>
          </p:cNvPicPr>
          <p:nvPr/>
        </p:nvPicPr>
        <p:blipFill>
          <a:blip r:embed="rId6"/>
          <a:stretch>
            <a:fillRect/>
          </a:stretch>
        </p:blipFill>
        <p:spPr>
          <a:xfrm>
            <a:off x="6560820" y="3534156"/>
            <a:ext cx="228600" cy="228600"/>
          </a:xfrm>
          <a:prstGeom prst="rect">
            <a:avLst/>
          </a:prstGeom>
        </p:spPr>
      </p:pic>
      <p:sp>
        <p:nvSpPr>
          <p:cNvPr id="15" name="Text 9"/>
          <p:cNvSpPr/>
          <p:nvPr/>
        </p:nvSpPr>
        <p:spPr>
          <a:xfrm>
            <a:off x="7040880" y="3374136"/>
            <a:ext cx="45720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Threat Simulation</a:t>
            </a:r>
            <a:endParaRPr lang="en-US" sz="1400" dirty="0"/>
          </a:p>
        </p:txBody>
      </p:sp>
      <p:sp>
        <p:nvSpPr>
          <p:cNvPr id="16" name="Text 10"/>
          <p:cNvSpPr/>
          <p:nvPr/>
        </p:nvSpPr>
        <p:spPr>
          <a:xfrm>
            <a:off x="7040880" y="3685032"/>
            <a:ext cx="4663440" cy="365760"/>
          </a:xfrm>
          <a:prstGeom prst="rect">
            <a:avLst/>
          </a:prstGeom>
          <a:noFill/>
          <a:ln/>
        </p:spPr>
        <p:txBody>
          <a:bodyPr wrap="square" rtlCol="0" anchor="ctr"/>
          <a:lstStyle/>
          <a:p>
            <a:pPr marL="0" indent="0">
              <a:buNone/>
            </a:pPr>
            <a:r>
              <a:rPr lang="en-US" sz="1150" dirty="0">
                <a:solidFill>
                  <a:srgbClr val="8CA0BC"/>
                </a:solidFill>
                <a:latin typeface="Calibri" pitchFamily="34" charset="0"/>
                <a:ea typeface="Calibri" pitchFamily="34" charset="-122"/>
                <a:cs typeface="Calibri" pitchFamily="34" charset="-120"/>
              </a:rPr>
              <a:t>Atomic Red Team on the Windows endpoint</a:t>
            </a:r>
            <a:endParaRPr lang="en-US" sz="1150" dirty="0"/>
          </a:p>
        </p:txBody>
      </p:sp>
      <p:sp>
        <p:nvSpPr>
          <p:cNvPr id="17" name="Shape 11"/>
          <p:cNvSpPr/>
          <p:nvPr/>
        </p:nvSpPr>
        <p:spPr>
          <a:xfrm>
            <a:off x="6446520" y="4352544"/>
            <a:ext cx="457200" cy="457200"/>
          </a:xfrm>
          <a:prstGeom prst="ellipse">
            <a:avLst/>
          </a:prstGeom>
          <a:solidFill>
            <a:srgbClr val="00C2D1"/>
          </a:solidFill>
          <a:ln/>
        </p:spPr>
        <p:txBody>
          <a:bodyPr/>
          <a:lstStyle/>
          <a:p>
            <a:endParaRPr lang="en-US"/>
          </a:p>
        </p:txBody>
      </p:sp>
      <p:pic>
        <p:nvPicPr>
          <p:cNvPr id="18" name="Image 4" descr="/home/claude/pptx_build/icons/cpu.png"/>
          <p:cNvPicPr>
            <a:picLocks noChangeAspect="1"/>
          </p:cNvPicPr>
          <p:nvPr/>
        </p:nvPicPr>
        <p:blipFill>
          <a:blip r:embed="rId7"/>
          <a:stretch>
            <a:fillRect/>
          </a:stretch>
        </p:blipFill>
        <p:spPr>
          <a:xfrm>
            <a:off x="6560820" y="4466844"/>
            <a:ext cx="228600" cy="228600"/>
          </a:xfrm>
          <a:prstGeom prst="rect">
            <a:avLst/>
          </a:prstGeom>
        </p:spPr>
      </p:pic>
      <p:sp>
        <p:nvSpPr>
          <p:cNvPr id="19" name="Text 12"/>
          <p:cNvSpPr/>
          <p:nvPr/>
        </p:nvSpPr>
        <p:spPr>
          <a:xfrm>
            <a:off x="7040880" y="4306824"/>
            <a:ext cx="45720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AI Analysis Layer</a:t>
            </a:r>
            <a:endParaRPr lang="en-US" sz="1400" dirty="0"/>
          </a:p>
        </p:txBody>
      </p:sp>
      <p:sp>
        <p:nvSpPr>
          <p:cNvPr id="20" name="Text 13"/>
          <p:cNvSpPr/>
          <p:nvPr/>
        </p:nvSpPr>
        <p:spPr>
          <a:xfrm>
            <a:off x="7040880" y="4617720"/>
            <a:ext cx="4663440" cy="365760"/>
          </a:xfrm>
          <a:prstGeom prst="rect">
            <a:avLst/>
          </a:prstGeom>
          <a:noFill/>
          <a:ln/>
        </p:spPr>
        <p:txBody>
          <a:bodyPr wrap="square" rtlCol="0" anchor="ctr"/>
          <a:lstStyle/>
          <a:p>
            <a:pPr marL="0" indent="0">
              <a:buNone/>
            </a:pPr>
            <a:r>
              <a:rPr lang="en-US" sz="1150" dirty="0">
                <a:solidFill>
                  <a:srgbClr val="8CA0BC"/>
                </a:solidFill>
                <a:latin typeface="Calibri" pitchFamily="34" charset="0"/>
                <a:ea typeface="Calibri" pitchFamily="34" charset="-122"/>
                <a:cs typeface="Calibri" pitchFamily="34" charset="-120"/>
              </a:rPr>
              <a:t>LangChain + Groq Llama 3.1 8B Instant</a:t>
            </a:r>
            <a:endParaRPr lang="en-US" sz="1150" dirty="0"/>
          </a:p>
        </p:txBody>
      </p:sp>
      <p:sp>
        <p:nvSpPr>
          <p:cNvPr id="21" name="Shape 14"/>
          <p:cNvSpPr/>
          <p:nvPr/>
        </p:nvSpPr>
        <p:spPr>
          <a:xfrm>
            <a:off x="6446520" y="5285232"/>
            <a:ext cx="457200" cy="457200"/>
          </a:xfrm>
          <a:prstGeom prst="ellipse">
            <a:avLst/>
          </a:prstGeom>
          <a:solidFill>
            <a:srgbClr val="00C2D1"/>
          </a:solidFill>
          <a:ln/>
        </p:spPr>
        <p:txBody>
          <a:bodyPr/>
          <a:lstStyle/>
          <a:p>
            <a:endParaRPr lang="en-US"/>
          </a:p>
        </p:txBody>
      </p:sp>
      <p:pic>
        <p:nvPicPr>
          <p:cNvPr id="22" name="Image 5" descr="/home/claude/pptx_build/icons/lock.png"/>
          <p:cNvPicPr>
            <a:picLocks noChangeAspect="1"/>
          </p:cNvPicPr>
          <p:nvPr/>
        </p:nvPicPr>
        <p:blipFill>
          <a:blip r:embed="rId8"/>
          <a:stretch>
            <a:fillRect/>
          </a:stretch>
        </p:blipFill>
        <p:spPr>
          <a:xfrm>
            <a:off x="6560820" y="5399532"/>
            <a:ext cx="228600" cy="228600"/>
          </a:xfrm>
          <a:prstGeom prst="rect">
            <a:avLst/>
          </a:prstGeom>
        </p:spPr>
      </p:pic>
      <p:sp>
        <p:nvSpPr>
          <p:cNvPr id="23" name="Text 15"/>
          <p:cNvSpPr/>
          <p:nvPr/>
        </p:nvSpPr>
        <p:spPr>
          <a:xfrm>
            <a:off x="7040880" y="5239512"/>
            <a:ext cx="45720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Governance Layer</a:t>
            </a:r>
            <a:endParaRPr lang="en-US" sz="1400" dirty="0"/>
          </a:p>
        </p:txBody>
      </p:sp>
      <p:sp>
        <p:nvSpPr>
          <p:cNvPr id="24" name="Text 16"/>
          <p:cNvSpPr/>
          <p:nvPr/>
        </p:nvSpPr>
        <p:spPr>
          <a:xfrm>
            <a:off x="7040880" y="5550408"/>
            <a:ext cx="4663440" cy="365760"/>
          </a:xfrm>
          <a:prstGeom prst="rect">
            <a:avLst/>
          </a:prstGeom>
          <a:noFill/>
          <a:ln/>
        </p:spPr>
        <p:txBody>
          <a:bodyPr wrap="square" rtlCol="0" anchor="ctr"/>
          <a:lstStyle/>
          <a:p>
            <a:pPr marL="0" indent="0">
              <a:buNone/>
            </a:pPr>
            <a:r>
              <a:rPr lang="en-US" sz="1150" dirty="0">
                <a:solidFill>
                  <a:srgbClr val="8CA0BC"/>
                </a:solidFill>
                <a:latin typeface="Calibri" pitchFamily="34" charset="0"/>
                <a:ea typeface="Calibri" pitchFamily="34" charset="-122"/>
                <a:cs typeface="Calibri" pitchFamily="34" charset="-120"/>
              </a:rPr>
              <a:t>Sanitization, logging, mandatory human review</a:t>
            </a:r>
            <a:endParaRPr lang="en-US" sz="1150" dirty="0"/>
          </a:p>
        </p:txBody>
      </p:sp>
      <p:sp>
        <p:nvSpPr>
          <p:cNvPr id="25" name="Text 17"/>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3E517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DETECTION ENGINEERING</a:t>
            </a:r>
            <a:endParaRPr lang="en-US" sz="1200" dirty="0"/>
          </a:p>
        </p:txBody>
      </p:sp>
      <p:sp>
        <p:nvSpPr>
          <p:cNvPr id="3" name="Text 1"/>
          <p:cNvSpPr/>
          <p:nvPr/>
        </p:nvSpPr>
        <p:spPr>
          <a:xfrm>
            <a:off x="640080" y="822960"/>
            <a:ext cx="8686800" cy="64008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12 custom rules, mapped to MITRE ATT&amp;CK</a:t>
            </a:r>
            <a:endParaRPr lang="en-US" sz="2600" dirty="0"/>
          </a:p>
        </p:txBody>
      </p:sp>
      <p:sp>
        <p:nvSpPr>
          <p:cNvPr id="4" name="Shape 2"/>
          <p:cNvSpPr/>
          <p:nvPr/>
        </p:nvSpPr>
        <p:spPr>
          <a:xfrm>
            <a:off x="640080" y="1691640"/>
            <a:ext cx="2331720" cy="4389120"/>
          </a:xfrm>
          <a:prstGeom prst="roundRect">
            <a:avLst>
              <a:gd name="adj" fmla="val 4706"/>
            </a:avLst>
          </a:prstGeom>
          <a:solidFill>
            <a:srgbClr val="0A1628"/>
          </a:solidFill>
          <a:ln/>
          <a:effectLst>
            <a:outerShdw blurRad="101600" dist="38100" dir="5400000" algn="bl" rotWithShape="0">
              <a:srgbClr val="0A1628">
                <a:alpha val="18000"/>
              </a:srgbClr>
            </a:outerShdw>
          </a:effectLst>
        </p:spPr>
        <p:txBody>
          <a:bodyPr/>
          <a:lstStyle/>
          <a:p>
            <a:endParaRPr lang="en-US"/>
          </a:p>
        </p:txBody>
      </p:sp>
      <p:sp>
        <p:nvSpPr>
          <p:cNvPr id="5" name="Text 3"/>
          <p:cNvSpPr/>
          <p:nvPr/>
        </p:nvSpPr>
        <p:spPr>
          <a:xfrm>
            <a:off x="640080" y="1965960"/>
            <a:ext cx="2331720" cy="1097280"/>
          </a:xfrm>
          <a:prstGeom prst="rect">
            <a:avLst/>
          </a:prstGeom>
          <a:noFill/>
          <a:ln/>
        </p:spPr>
        <p:txBody>
          <a:bodyPr wrap="square" rtlCol="0" anchor="ctr"/>
          <a:lstStyle/>
          <a:p>
            <a:pPr marL="0" indent="0" algn="ctr">
              <a:buNone/>
            </a:pPr>
            <a:r>
              <a:rPr lang="en-US" sz="6200" b="1" dirty="0">
                <a:solidFill>
                  <a:srgbClr val="00C2D1"/>
                </a:solidFill>
                <a:latin typeface="Calibri" pitchFamily="34" charset="0"/>
                <a:ea typeface="Calibri" pitchFamily="34" charset="-122"/>
                <a:cs typeface="Calibri" pitchFamily="34" charset="-120"/>
              </a:rPr>
              <a:t>12</a:t>
            </a:r>
            <a:endParaRPr lang="en-US" sz="6200" dirty="0"/>
          </a:p>
        </p:txBody>
      </p:sp>
      <p:sp>
        <p:nvSpPr>
          <p:cNvPr id="6" name="Text 4"/>
          <p:cNvSpPr/>
          <p:nvPr/>
        </p:nvSpPr>
        <p:spPr>
          <a:xfrm>
            <a:off x="822960" y="3063240"/>
            <a:ext cx="1965960" cy="731520"/>
          </a:xfrm>
          <a:prstGeom prst="rect">
            <a:avLst/>
          </a:prstGeom>
          <a:noFill/>
          <a:ln/>
        </p:spPr>
        <p:txBody>
          <a:bodyPr wrap="square"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custom detection</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rules built &amp; validated</a:t>
            </a:r>
            <a:endParaRPr lang="en-US" sz="1250" dirty="0"/>
          </a:p>
        </p:txBody>
      </p:sp>
      <p:sp>
        <p:nvSpPr>
          <p:cNvPr id="7" name="Shape 5"/>
          <p:cNvSpPr/>
          <p:nvPr/>
        </p:nvSpPr>
        <p:spPr>
          <a:xfrm>
            <a:off x="914400" y="3977640"/>
            <a:ext cx="1783080" cy="0"/>
          </a:xfrm>
          <a:prstGeom prst="line">
            <a:avLst/>
          </a:prstGeom>
          <a:noFill/>
          <a:ln w="12700">
            <a:solidFill>
              <a:srgbClr val="27476F"/>
            </a:solidFill>
            <a:prstDash val="solid"/>
          </a:ln>
        </p:spPr>
        <p:txBody>
          <a:bodyPr/>
          <a:lstStyle/>
          <a:p>
            <a:endParaRPr lang="en-US"/>
          </a:p>
        </p:txBody>
      </p:sp>
      <p:sp>
        <p:nvSpPr>
          <p:cNvPr id="8" name="Text 6"/>
          <p:cNvSpPr/>
          <p:nvPr/>
        </p:nvSpPr>
        <p:spPr>
          <a:xfrm>
            <a:off x="822960" y="4160520"/>
            <a:ext cx="1965960" cy="1737360"/>
          </a:xfrm>
          <a:prstGeom prst="rect">
            <a:avLst/>
          </a:prstGeom>
          <a:noFill/>
          <a:ln/>
        </p:spPr>
        <p:txBody>
          <a:bodyPr wrap="square" rtlCol="0" anchor="t"/>
          <a:lstStyle/>
          <a:p>
            <a:pPr marL="0" indent="0" algn="ctr">
              <a:buNone/>
            </a:pPr>
            <a:r>
              <a:rPr lang="en-US" sz="1100" i="1" dirty="0">
                <a:solidFill>
                  <a:srgbClr val="8CA0BC"/>
                </a:solidFill>
                <a:latin typeface="Calibri" pitchFamily="34" charset="0"/>
                <a:ea typeface="Calibri" pitchFamily="34" charset="-122"/>
                <a:cs typeface="Calibri" pitchFamily="34" charset="-120"/>
              </a:rPr>
              <a:t>Behaviour-based — focused on attacker technique, not malware signatures.</a:t>
            </a:r>
            <a:endParaRPr lang="en-US" sz="1100" dirty="0"/>
          </a:p>
        </p:txBody>
      </p:sp>
      <p:sp>
        <p:nvSpPr>
          <p:cNvPr id="9" name="Shape 7"/>
          <p:cNvSpPr/>
          <p:nvPr/>
        </p:nvSpPr>
        <p:spPr>
          <a:xfrm>
            <a:off x="3246120" y="1691640"/>
            <a:ext cx="8275320" cy="4251960"/>
          </a:xfrm>
          <a:prstGeom prst="roundRect">
            <a:avLst>
              <a:gd name="adj" fmla="val 1720"/>
            </a:avLst>
          </a:prstGeom>
          <a:solidFill>
            <a:srgbClr val="FFFFFF"/>
          </a:solidFill>
          <a:ln w="12700">
            <a:solidFill>
              <a:srgbClr val="E2E8F1"/>
            </a:solidFill>
            <a:prstDash val="solid"/>
          </a:ln>
          <a:effectLst>
            <a:outerShdw blurRad="101600" dist="38100" dir="5400000" algn="bl" rotWithShape="0">
              <a:srgbClr val="0A1628">
                <a:alpha val="18000"/>
              </a:srgbClr>
            </a:outerShdw>
          </a:effectLst>
        </p:spPr>
        <p:txBody>
          <a:bodyPr/>
          <a:lstStyle/>
          <a:p>
            <a:endParaRPr lang="en-US"/>
          </a:p>
        </p:txBody>
      </p:sp>
      <p:sp>
        <p:nvSpPr>
          <p:cNvPr id="10" name="Text 8"/>
          <p:cNvSpPr/>
          <p:nvPr/>
        </p:nvSpPr>
        <p:spPr>
          <a:xfrm>
            <a:off x="3474720" y="1746504"/>
            <a:ext cx="1371600" cy="416052"/>
          </a:xfrm>
          <a:prstGeom prst="rect">
            <a:avLst/>
          </a:prstGeom>
          <a:noFill/>
          <a:ln/>
        </p:spPr>
        <p:txBody>
          <a:bodyPr wrap="square" rtlCol="0" anchor="ctr"/>
          <a:lstStyle/>
          <a:p>
            <a:pPr marL="0" indent="0">
              <a:buNone/>
            </a:pPr>
            <a:r>
              <a:rPr lang="en-US" sz="1100" b="1" dirty="0">
                <a:solidFill>
                  <a:srgbClr val="5C6B82"/>
                </a:solidFill>
                <a:latin typeface="Calibri" pitchFamily="34" charset="0"/>
                <a:ea typeface="Calibri" pitchFamily="34" charset="-122"/>
                <a:cs typeface="Calibri" pitchFamily="34" charset="-120"/>
              </a:rPr>
              <a:t>100100</a:t>
            </a:r>
            <a:endParaRPr lang="en-US" sz="1100" dirty="0"/>
          </a:p>
        </p:txBody>
      </p:sp>
      <p:sp>
        <p:nvSpPr>
          <p:cNvPr id="11" name="Text 9"/>
          <p:cNvSpPr/>
          <p:nvPr/>
        </p:nvSpPr>
        <p:spPr>
          <a:xfrm>
            <a:off x="4937760" y="1746504"/>
            <a:ext cx="4846320" cy="41605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Suspicious Windows Command Shell</a:t>
            </a:r>
            <a:endParaRPr lang="en-US" sz="1200" dirty="0"/>
          </a:p>
        </p:txBody>
      </p:sp>
      <p:sp>
        <p:nvSpPr>
          <p:cNvPr id="12" name="Text 10"/>
          <p:cNvSpPr/>
          <p:nvPr/>
        </p:nvSpPr>
        <p:spPr>
          <a:xfrm>
            <a:off x="9829800" y="1746504"/>
            <a:ext cx="1554480" cy="416052"/>
          </a:xfrm>
          <a:prstGeom prst="rect">
            <a:avLst/>
          </a:prstGeom>
          <a:noFill/>
          <a:ln/>
        </p:spPr>
        <p:txBody>
          <a:bodyPr wrap="square" rtlCol="0" anchor="ctr"/>
          <a:lstStyle/>
          <a:p>
            <a:pPr marL="0" indent="0" algn="l">
              <a:buNone/>
            </a:pPr>
            <a:r>
              <a:rPr lang="en-US" sz="1150" b="1" dirty="0">
                <a:solidFill>
                  <a:srgbClr val="0E7C8C"/>
                </a:solidFill>
                <a:latin typeface="Calibri" pitchFamily="34" charset="0"/>
                <a:ea typeface="Calibri" pitchFamily="34" charset="-122"/>
                <a:cs typeface="Calibri" pitchFamily="34" charset="-120"/>
              </a:rPr>
              <a:t>T1059.003</a:t>
            </a:r>
            <a:endParaRPr lang="en-US" sz="1150" dirty="0"/>
          </a:p>
        </p:txBody>
      </p:sp>
      <p:sp>
        <p:nvSpPr>
          <p:cNvPr id="13" name="Shape 11"/>
          <p:cNvSpPr/>
          <p:nvPr/>
        </p:nvSpPr>
        <p:spPr>
          <a:xfrm>
            <a:off x="3300984" y="2162556"/>
            <a:ext cx="8165592" cy="416052"/>
          </a:xfrm>
          <a:prstGeom prst="rect">
            <a:avLst/>
          </a:prstGeom>
          <a:solidFill>
            <a:srgbClr val="EEF2F8"/>
          </a:solidFill>
          <a:ln/>
        </p:spPr>
        <p:txBody>
          <a:bodyPr/>
          <a:lstStyle/>
          <a:p>
            <a:endParaRPr lang="en-US"/>
          </a:p>
        </p:txBody>
      </p:sp>
      <p:sp>
        <p:nvSpPr>
          <p:cNvPr id="14" name="Text 12"/>
          <p:cNvSpPr/>
          <p:nvPr/>
        </p:nvSpPr>
        <p:spPr>
          <a:xfrm>
            <a:off x="3474720" y="2162556"/>
            <a:ext cx="1371600" cy="416052"/>
          </a:xfrm>
          <a:prstGeom prst="rect">
            <a:avLst/>
          </a:prstGeom>
          <a:noFill/>
          <a:ln/>
        </p:spPr>
        <p:txBody>
          <a:bodyPr wrap="square" rtlCol="0" anchor="ctr"/>
          <a:lstStyle/>
          <a:p>
            <a:pPr marL="0" indent="0">
              <a:buNone/>
            </a:pPr>
            <a:r>
              <a:rPr lang="en-US" sz="1100" b="1" dirty="0">
                <a:solidFill>
                  <a:srgbClr val="5C6B82"/>
                </a:solidFill>
                <a:latin typeface="Calibri" pitchFamily="34" charset="0"/>
                <a:ea typeface="Calibri" pitchFamily="34" charset="-122"/>
                <a:cs typeface="Calibri" pitchFamily="34" charset="-120"/>
              </a:rPr>
              <a:t>100101/102</a:t>
            </a:r>
            <a:endParaRPr lang="en-US" sz="1100" dirty="0"/>
          </a:p>
        </p:txBody>
      </p:sp>
      <p:sp>
        <p:nvSpPr>
          <p:cNvPr id="15" name="Text 13"/>
          <p:cNvSpPr/>
          <p:nvPr/>
        </p:nvSpPr>
        <p:spPr>
          <a:xfrm>
            <a:off x="4937760" y="2162556"/>
            <a:ext cx="4846320" cy="41605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Encoded / Download-Cradle PowerShell</a:t>
            </a:r>
            <a:endParaRPr lang="en-US" sz="1200" dirty="0"/>
          </a:p>
        </p:txBody>
      </p:sp>
      <p:sp>
        <p:nvSpPr>
          <p:cNvPr id="16" name="Text 14"/>
          <p:cNvSpPr/>
          <p:nvPr/>
        </p:nvSpPr>
        <p:spPr>
          <a:xfrm>
            <a:off x="9829800" y="2162556"/>
            <a:ext cx="1554480" cy="416052"/>
          </a:xfrm>
          <a:prstGeom prst="rect">
            <a:avLst/>
          </a:prstGeom>
          <a:noFill/>
          <a:ln/>
        </p:spPr>
        <p:txBody>
          <a:bodyPr wrap="square" rtlCol="0" anchor="ctr"/>
          <a:lstStyle/>
          <a:p>
            <a:pPr marL="0" indent="0" algn="l">
              <a:buNone/>
            </a:pPr>
            <a:r>
              <a:rPr lang="en-US" sz="1150" b="1" dirty="0">
                <a:solidFill>
                  <a:srgbClr val="0E7C8C"/>
                </a:solidFill>
                <a:latin typeface="Calibri" pitchFamily="34" charset="0"/>
                <a:ea typeface="Calibri" pitchFamily="34" charset="-122"/>
                <a:cs typeface="Calibri" pitchFamily="34" charset="-120"/>
              </a:rPr>
              <a:t>T1059.001</a:t>
            </a:r>
            <a:endParaRPr lang="en-US" sz="1150" dirty="0"/>
          </a:p>
        </p:txBody>
      </p:sp>
      <p:sp>
        <p:nvSpPr>
          <p:cNvPr id="17" name="Text 15"/>
          <p:cNvSpPr/>
          <p:nvPr/>
        </p:nvSpPr>
        <p:spPr>
          <a:xfrm>
            <a:off x="3474720" y="2578608"/>
            <a:ext cx="1371600" cy="416052"/>
          </a:xfrm>
          <a:prstGeom prst="rect">
            <a:avLst/>
          </a:prstGeom>
          <a:noFill/>
          <a:ln/>
        </p:spPr>
        <p:txBody>
          <a:bodyPr wrap="square" rtlCol="0" anchor="ctr"/>
          <a:lstStyle/>
          <a:p>
            <a:pPr marL="0" indent="0">
              <a:buNone/>
            </a:pPr>
            <a:r>
              <a:rPr lang="en-US" sz="1100" b="1" dirty="0">
                <a:solidFill>
                  <a:srgbClr val="5C6B82"/>
                </a:solidFill>
                <a:latin typeface="Calibri" pitchFamily="34" charset="0"/>
                <a:ea typeface="Calibri" pitchFamily="34" charset="-122"/>
                <a:cs typeface="Calibri" pitchFamily="34" charset="-120"/>
              </a:rPr>
              <a:t>100103</a:t>
            </a:r>
            <a:endParaRPr lang="en-US" sz="1100" dirty="0"/>
          </a:p>
        </p:txBody>
      </p:sp>
      <p:sp>
        <p:nvSpPr>
          <p:cNvPr id="18" name="Text 16"/>
          <p:cNvSpPr/>
          <p:nvPr/>
        </p:nvSpPr>
        <p:spPr>
          <a:xfrm>
            <a:off x="4937760" y="2578608"/>
            <a:ext cx="4846320" cy="41605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Multiple Failed Login Attempts</a:t>
            </a:r>
            <a:endParaRPr lang="en-US" sz="1200" dirty="0"/>
          </a:p>
        </p:txBody>
      </p:sp>
      <p:sp>
        <p:nvSpPr>
          <p:cNvPr id="19" name="Text 17"/>
          <p:cNvSpPr/>
          <p:nvPr/>
        </p:nvSpPr>
        <p:spPr>
          <a:xfrm>
            <a:off x="9829800" y="2578608"/>
            <a:ext cx="1554480" cy="416052"/>
          </a:xfrm>
          <a:prstGeom prst="rect">
            <a:avLst/>
          </a:prstGeom>
          <a:noFill/>
          <a:ln/>
        </p:spPr>
        <p:txBody>
          <a:bodyPr wrap="square" rtlCol="0" anchor="ctr"/>
          <a:lstStyle/>
          <a:p>
            <a:pPr marL="0" indent="0" algn="l">
              <a:buNone/>
            </a:pPr>
            <a:r>
              <a:rPr lang="en-US" sz="1150" b="1" dirty="0">
                <a:solidFill>
                  <a:srgbClr val="0E7C8C"/>
                </a:solidFill>
                <a:latin typeface="Calibri" pitchFamily="34" charset="0"/>
                <a:ea typeface="Calibri" pitchFamily="34" charset="-122"/>
                <a:cs typeface="Calibri" pitchFamily="34" charset="-120"/>
              </a:rPr>
              <a:t>T1110</a:t>
            </a:r>
            <a:endParaRPr lang="en-US" sz="1150" dirty="0"/>
          </a:p>
        </p:txBody>
      </p:sp>
      <p:sp>
        <p:nvSpPr>
          <p:cNvPr id="20" name="Shape 18"/>
          <p:cNvSpPr/>
          <p:nvPr/>
        </p:nvSpPr>
        <p:spPr>
          <a:xfrm>
            <a:off x="3300984" y="2994660"/>
            <a:ext cx="8165592" cy="416052"/>
          </a:xfrm>
          <a:prstGeom prst="rect">
            <a:avLst/>
          </a:prstGeom>
          <a:solidFill>
            <a:srgbClr val="EEF2F8"/>
          </a:solidFill>
          <a:ln/>
        </p:spPr>
        <p:txBody>
          <a:bodyPr/>
          <a:lstStyle/>
          <a:p>
            <a:endParaRPr lang="en-US"/>
          </a:p>
        </p:txBody>
      </p:sp>
      <p:sp>
        <p:nvSpPr>
          <p:cNvPr id="21" name="Text 19"/>
          <p:cNvSpPr/>
          <p:nvPr/>
        </p:nvSpPr>
        <p:spPr>
          <a:xfrm>
            <a:off x="3474720" y="2994660"/>
            <a:ext cx="1371600" cy="416052"/>
          </a:xfrm>
          <a:prstGeom prst="rect">
            <a:avLst/>
          </a:prstGeom>
          <a:noFill/>
          <a:ln/>
        </p:spPr>
        <p:txBody>
          <a:bodyPr wrap="square" rtlCol="0" anchor="ctr"/>
          <a:lstStyle/>
          <a:p>
            <a:pPr marL="0" indent="0">
              <a:buNone/>
            </a:pPr>
            <a:r>
              <a:rPr lang="en-US" sz="1100" b="1" dirty="0">
                <a:solidFill>
                  <a:srgbClr val="5C6B82"/>
                </a:solidFill>
                <a:latin typeface="Calibri" pitchFamily="34" charset="0"/>
                <a:ea typeface="Calibri" pitchFamily="34" charset="-122"/>
                <a:cs typeface="Calibri" pitchFamily="34" charset="-120"/>
              </a:rPr>
              <a:t>100104</a:t>
            </a:r>
            <a:endParaRPr lang="en-US" sz="1100" dirty="0"/>
          </a:p>
        </p:txBody>
      </p:sp>
      <p:sp>
        <p:nvSpPr>
          <p:cNvPr id="22" name="Text 20"/>
          <p:cNvSpPr/>
          <p:nvPr/>
        </p:nvSpPr>
        <p:spPr>
          <a:xfrm>
            <a:off x="4937760" y="2994660"/>
            <a:ext cx="4846320" cy="41605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New Windows User Account Creation</a:t>
            </a:r>
            <a:endParaRPr lang="en-US" sz="1200" dirty="0"/>
          </a:p>
        </p:txBody>
      </p:sp>
      <p:sp>
        <p:nvSpPr>
          <p:cNvPr id="23" name="Text 21"/>
          <p:cNvSpPr/>
          <p:nvPr/>
        </p:nvSpPr>
        <p:spPr>
          <a:xfrm>
            <a:off x="9829800" y="2994660"/>
            <a:ext cx="1554480" cy="416052"/>
          </a:xfrm>
          <a:prstGeom prst="rect">
            <a:avLst/>
          </a:prstGeom>
          <a:noFill/>
          <a:ln/>
        </p:spPr>
        <p:txBody>
          <a:bodyPr wrap="square" rtlCol="0" anchor="ctr"/>
          <a:lstStyle/>
          <a:p>
            <a:pPr marL="0" indent="0" algn="l">
              <a:buNone/>
            </a:pPr>
            <a:r>
              <a:rPr lang="en-US" sz="1150" b="1" dirty="0">
                <a:solidFill>
                  <a:srgbClr val="0E7C8C"/>
                </a:solidFill>
                <a:latin typeface="Calibri" pitchFamily="34" charset="0"/>
                <a:ea typeface="Calibri" pitchFamily="34" charset="-122"/>
                <a:cs typeface="Calibri" pitchFamily="34" charset="-120"/>
              </a:rPr>
              <a:t>T1136</a:t>
            </a:r>
            <a:endParaRPr lang="en-US" sz="1150" dirty="0"/>
          </a:p>
        </p:txBody>
      </p:sp>
      <p:sp>
        <p:nvSpPr>
          <p:cNvPr id="24" name="Text 22"/>
          <p:cNvSpPr/>
          <p:nvPr/>
        </p:nvSpPr>
        <p:spPr>
          <a:xfrm>
            <a:off x="3474720" y="3410712"/>
            <a:ext cx="1371600" cy="416052"/>
          </a:xfrm>
          <a:prstGeom prst="rect">
            <a:avLst/>
          </a:prstGeom>
          <a:noFill/>
          <a:ln/>
        </p:spPr>
        <p:txBody>
          <a:bodyPr wrap="square" rtlCol="0" anchor="ctr"/>
          <a:lstStyle/>
          <a:p>
            <a:pPr marL="0" indent="0">
              <a:buNone/>
            </a:pPr>
            <a:r>
              <a:rPr lang="en-US" sz="1100" b="1" dirty="0">
                <a:solidFill>
                  <a:srgbClr val="5C6B82"/>
                </a:solidFill>
                <a:latin typeface="Calibri" pitchFamily="34" charset="0"/>
                <a:ea typeface="Calibri" pitchFamily="34" charset="-122"/>
                <a:cs typeface="Calibri" pitchFamily="34" charset="-120"/>
              </a:rPr>
              <a:t>100105</a:t>
            </a:r>
            <a:endParaRPr lang="en-US" sz="1100" dirty="0"/>
          </a:p>
        </p:txBody>
      </p:sp>
      <p:sp>
        <p:nvSpPr>
          <p:cNvPr id="25" name="Text 23"/>
          <p:cNvSpPr/>
          <p:nvPr/>
        </p:nvSpPr>
        <p:spPr>
          <a:xfrm>
            <a:off x="4937760" y="3410712"/>
            <a:ext cx="4846320" cy="41605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New Windows Service Installation</a:t>
            </a:r>
            <a:endParaRPr lang="en-US" sz="1200" dirty="0"/>
          </a:p>
        </p:txBody>
      </p:sp>
      <p:sp>
        <p:nvSpPr>
          <p:cNvPr id="26" name="Text 24"/>
          <p:cNvSpPr/>
          <p:nvPr/>
        </p:nvSpPr>
        <p:spPr>
          <a:xfrm>
            <a:off x="9829800" y="3410712"/>
            <a:ext cx="1554480" cy="416052"/>
          </a:xfrm>
          <a:prstGeom prst="rect">
            <a:avLst/>
          </a:prstGeom>
          <a:noFill/>
          <a:ln/>
        </p:spPr>
        <p:txBody>
          <a:bodyPr wrap="square" rtlCol="0" anchor="ctr"/>
          <a:lstStyle/>
          <a:p>
            <a:pPr marL="0" indent="0" algn="l">
              <a:buNone/>
            </a:pPr>
            <a:r>
              <a:rPr lang="en-US" sz="1150" b="1" dirty="0">
                <a:solidFill>
                  <a:srgbClr val="0E7C8C"/>
                </a:solidFill>
                <a:latin typeface="Calibri" pitchFamily="34" charset="0"/>
                <a:ea typeface="Calibri" pitchFamily="34" charset="-122"/>
                <a:cs typeface="Calibri" pitchFamily="34" charset="-120"/>
              </a:rPr>
              <a:t>T1543.003</a:t>
            </a:r>
            <a:endParaRPr lang="en-US" sz="1150" dirty="0"/>
          </a:p>
        </p:txBody>
      </p:sp>
      <p:sp>
        <p:nvSpPr>
          <p:cNvPr id="27" name="Shape 25"/>
          <p:cNvSpPr/>
          <p:nvPr/>
        </p:nvSpPr>
        <p:spPr>
          <a:xfrm>
            <a:off x="3300984" y="3826764"/>
            <a:ext cx="8165592" cy="416052"/>
          </a:xfrm>
          <a:prstGeom prst="rect">
            <a:avLst/>
          </a:prstGeom>
          <a:solidFill>
            <a:srgbClr val="EEF2F8"/>
          </a:solidFill>
          <a:ln/>
        </p:spPr>
        <p:txBody>
          <a:bodyPr/>
          <a:lstStyle/>
          <a:p>
            <a:endParaRPr lang="en-US"/>
          </a:p>
        </p:txBody>
      </p:sp>
      <p:sp>
        <p:nvSpPr>
          <p:cNvPr id="28" name="Text 26"/>
          <p:cNvSpPr/>
          <p:nvPr/>
        </p:nvSpPr>
        <p:spPr>
          <a:xfrm>
            <a:off x="3474720" y="3826764"/>
            <a:ext cx="1371600" cy="416052"/>
          </a:xfrm>
          <a:prstGeom prst="rect">
            <a:avLst/>
          </a:prstGeom>
          <a:noFill/>
          <a:ln/>
        </p:spPr>
        <p:txBody>
          <a:bodyPr wrap="square" rtlCol="0" anchor="ctr"/>
          <a:lstStyle/>
          <a:p>
            <a:pPr marL="0" indent="0">
              <a:buNone/>
            </a:pPr>
            <a:r>
              <a:rPr lang="en-US" sz="1100" b="1" dirty="0">
                <a:solidFill>
                  <a:srgbClr val="5C6B82"/>
                </a:solidFill>
                <a:latin typeface="Calibri" pitchFamily="34" charset="0"/>
                <a:ea typeface="Calibri" pitchFamily="34" charset="-122"/>
                <a:cs typeface="Calibri" pitchFamily="34" charset="-120"/>
              </a:rPr>
              <a:t>100106/111</a:t>
            </a:r>
            <a:endParaRPr lang="en-US" sz="1100" dirty="0"/>
          </a:p>
        </p:txBody>
      </p:sp>
      <p:sp>
        <p:nvSpPr>
          <p:cNvPr id="29" name="Text 27"/>
          <p:cNvSpPr/>
          <p:nvPr/>
        </p:nvSpPr>
        <p:spPr>
          <a:xfrm>
            <a:off x="4937760" y="3826764"/>
            <a:ext cx="4846320" cy="41605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Registry Run Key / Startup Persistence</a:t>
            </a:r>
            <a:endParaRPr lang="en-US" sz="1200" dirty="0"/>
          </a:p>
        </p:txBody>
      </p:sp>
      <p:sp>
        <p:nvSpPr>
          <p:cNvPr id="30" name="Text 28"/>
          <p:cNvSpPr/>
          <p:nvPr/>
        </p:nvSpPr>
        <p:spPr>
          <a:xfrm>
            <a:off x="9829800" y="3826764"/>
            <a:ext cx="1554480" cy="416052"/>
          </a:xfrm>
          <a:prstGeom prst="rect">
            <a:avLst/>
          </a:prstGeom>
          <a:noFill/>
          <a:ln/>
        </p:spPr>
        <p:txBody>
          <a:bodyPr wrap="square" rtlCol="0" anchor="ctr"/>
          <a:lstStyle/>
          <a:p>
            <a:pPr marL="0" indent="0" algn="l">
              <a:buNone/>
            </a:pPr>
            <a:r>
              <a:rPr lang="en-US" sz="1150" b="1" dirty="0">
                <a:solidFill>
                  <a:srgbClr val="0E7C8C"/>
                </a:solidFill>
                <a:latin typeface="Calibri" pitchFamily="34" charset="0"/>
                <a:ea typeface="Calibri" pitchFamily="34" charset="-122"/>
                <a:cs typeface="Calibri" pitchFamily="34" charset="-120"/>
              </a:rPr>
              <a:t>T1547.001</a:t>
            </a:r>
            <a:endParaRPr lang="en-US" sz="1150" dirty="0"/>
          </a:p>
        </p:txBody>
      </p:sp>
      <p:sp>
        <p:nvSpPr>
          <p:cNvPr id="31" name="Text 29"/>
          <p:cNvSpPr/>
          <p:nvPr/>
        </p:nvSpPr>
        <p:spPr>
          <a:xfrm>
            <a:off x="3474720" y="4242816"/>
            <a:ext cx="1371600" cy="416052"/>
          </a:xfrm>
          <a:prstGeom prst="rect">
            <a:avLst/>
          </a:prstGeom>
          <a:noFill/>
          <a:ln/>
        </p:spPr>
        <p:txBody>
          <a:bodyPr wrap="square" rtlCol="0" anchor="ctr"/>
          <a:lstStyle/>
          <a:p>
            <a:pPr marL="0" indent="0">
              <a:buNone/>
            </a:pPr>
            <a:r>
              <a:rPr lang="en-US" sz="1100" b="1" dirty="0">
                <a:solidFill>
                  <a:srgbClr val="5C6B82"/>
                </a:solidFill>
                <a:latin typeface="Calibri" pitchFamily="34" charset="0"/>
                <a:ea typeface="Calibri" pitchFamily="34" charset="-122"/>
                <a:cs typeface="Calibri" pitchFamily="34" charset="-120"/>
              </a:rPr>
              <a:t>100107</a:t>
            </a:r>
            <a:endParaRPr lang="en-US" sz="1100" dirty="0"/>
          </a:p>
        </p:txBody>
      </p:sp>
      <p:sp>
        <p:nvSpPr>
          <p:cNvPr id="32" name="Text 30"/>
          <p:cNvSpPr/>
          <p:nvPr/>
        </p:nvSpPr>
        <p:spPr>
          <a:xfrm>
            <a:off x="4937760" y="4242816"/>
            <a:ext cx="4846320" cy="41605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Scheduled Task Creation</a:t>
            </a:r>
            <a:endParaRPr lang="en-US" sz="1200" dirty="0"/>
          </a:p>
        </p:txBody>
      </p:sp>
      <p:sp>
        <p:nvSpPr>
          <p:cNvPr id="33" name="Text 31"/>
          <p:cNvSpPr/>
          <p:nvPr/>
        </p:nvSpPr>
        <p:spPr>
          <a:xfrm>
            <a:off x="9829800" y="4242816"/>
            <a:ext cx="1554480" cy="416052"/>
          </a:xfrm>
          <a:prstGeom prst="rect">
            <a:avLst/>
          </a:prstGeom>
          <a:noFill/>
          <a:ln/>
        </p:spPr>
        <p:txBody>
          <a:bodyPr wrap="square" rtlCol="0" anchor="ctr"/>
          <a:lstStyle/>
          <a:p>
            <a:pPr marL="0" indent="0" algn="l">
              <a:buNone/>
            </a:pPr>
            <a:r>
              <a:rPr lang="en-US" sz="1150" b="1" dirty="0">
                <a:solidFill>
                  <a:srgbClr val="0E7C8C"/>
                </a:solidFill>
                <a:latin typeface="Calibri" pitchFamily="34" charset="0"/>
                <a:ea typeface="Calibri" pitchFamily="34" charset="-122"/>
                <a:cs typeface="Calibri" pitchFamily="34" charset="-120"/>
              </a:rPr>
              <a:t>T1053.005</a:t>
            </a:r>
            <a:endParaRPr lang="en-US" sz="1150" dirty="0"/>
          </a:p>
        </p:txBody>
      </p:sp>
      <p:sp>
        <p:nvSpPr>
          <p:cNvPr id="34" name="Shape 32"/>
          <p:cNvSpPr/>
          <p:nvPr/>
        </p:nvSpPr>
        <p:spPr>
          <a:xfrm>
            <a:off x="3300984" y="4658868"/>
            <a:ext cx="8165592" cy="416052"/>
          </a:xfrm>
          <a:prstGeom prst="rect">
            <a:avLst/>
          </a:prstGeom>
          <a:solidFill>
            <a:srgbClr val="EEF2F8"/>
          </a:solidFill>
          <a:ln/>
        </p:spPr>
        <p:txBody>
          <a:bodyPr/>
          <a:lstStyle/>
          <a:p>
            <a:endParaRPr lang="en-US"/>
          </a:p>
        </p:txBody>
      </p:sp>
      <p:sp>
        <p:nvSpPr>
          <p:cNvPr id="35" name="Text 33"/>
          <p:cNvSpPr/>
          <p:nvPr/>
        </p:nvSpPr>
        <p:spPr>
          <a:xfrm>
            <a:off x="3474720" y="4658868"/>
            <a:ext cx="1371600" cy="416052"/>
          </a:xfrm>
          <a:prstGeom prst="rect">
            <a:avLst/>
          </a:prstGeom>
          <a:noFill/>
          <a:ln/>
        </p:spPr>
        <p:txBody>
          <a:bodyPr wrap="square" rtlCol="0" anchor="ctr"/>
          <a:lstStyle/>
          <a:p>
            <a:pPr marL="0" indent="0">
              <a:buNone/>
            </a:pPr>
            <a:r>
              <a:rPr lang="en-US" sz="1100" b="1" dirty="0">
                <a:solidFill>
                  <a:srgbClr val="5C6B82"/>
                </a:solidFill>
                <a:latin typeface="Calibri" pitchFamily="34" charset="0"/>
                <a:ea typeface="Calibri" pitchFamily="34" charset="-122"/>
                <a:cs typeface="Calibri" pitchFamily="34" charset="-120"/>
              </a:rPr>
              <a:t>100108</a:t>
            </a:r>
            <a:endParaRPr lang="en-US" sz="1100" dirty="0"/>
          </a:p>
        </p:txBody>
      </p:sp>
      <p:sp>
        <p:nvSpPr>
          <p:cNvPr id="36" name="Text 34"/>
          <p:cNvSpPr/>
          <p:nvPr/>
        </p:nvSpPr>
        <p:spPr>
          <a:xfrm>
            <a:off x="4937760" y="4658868"/>
            <a:ext cx="4846320" cy="41605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Successful Remote Logon</a:t>
            </a:r>
            <a:endParaRPr lang="en-US" sz="1200" dirty="0"/>
          </a:p>
        </p:txBody>
      </p:sp>
      <p:sp>
        <p:nvSpPr>
          <p:cNvPr id="37" name="Text 35"/>
          <p:cNvSpPr/>
          <p:nvPr/>
        </p:nvSpPr>
        <p:spPr>
          <a:xfrm>
            <a:off x="9829800" y="4658868"/>
            <a:ext cx="1554480" cy="416052"/>
          </a:xfrm>
          <a:prstGeom prst="rect">
            <a:avLst/>
          </a:prstGeom>
          <a:noFill/>
          <a:ln/>
        </p:spPr>
        <p:txBody>
          <a:bodyPr wrap="square" rtlCol="0" anchor="ctr"/>
          <a:lstStyle/>
          <a:p>
            <a:pPr marL="0" indent="0" algn="l">
              <a:buNone/>
            </a:pPr>
            <a:r>
              <a:rPr lang="en-US" sz="1150" b="1" dirty="0">
                <a:solidFill>
                  <a:srgbClr val="0E7C8C"/>
                </a:solidFill>
                <a:latin typeface="Calibri" pitchFamily="34" charset="0"/>
                <a:ea typeface="Calibri" pitchFamily="34" charset="-122"/>
                <a:cs typeface="Calibri" pitchFamily="34" charset="-120"/>
              </a:rPr>
              <a:t>T1021.001</a:t>
            </a:r>
            <a:endParaRPr lang="en-US" sz="1150" dirty="0"/>
          </a:p>
        </p:txBody>
      </p:sp>
      <p:sp>
        <p:nvSpPr>
          <p:cNvPr id="38" name="Text 36"/>
          <p:cNvSpPr/>
          <p:nvPr/>
        </p:nvSpPr>
        <p:spPr>
          <a:xfrm>
            <a:off x="3474720" y="5074920"/>
            <a:ext cx="1371600" cy="416052"/>
          </a:xfrm>
          <a:prstGeom prst="rect">
            <a:avLst/>
          </a:prstGeom>
          <a:noFill/>
          <a:ln/>
        </p:spPr>
        <p:txBody>
          <a:bodyPr wrap="square" rtlCol="0" anchor="ctr"/>
          <a:lstStyle/>
          <a:p>
            <a:pPr marL="0" indent="0">
              <a:buNone/>
            </a:pPr>
            <a:r>
              <a:rPr lang="en-US" sz="1100" b="1" dirty="0">
                <a:solidFill>
                  <a:srgbClr val="5C6B82"/>
                </a:solidFill>
                <a:latin typeface="Calibri" pitchFamily="34" charset="0"/>
                <a:ea typeface="Calibri" pitchFamily="34" charset="-122"/>
                <a:cs typeface="Calibri" pitchFamily="34" charset="-120"/>
              </a:rPr>
              <a:t>100110</a:t>
            </a:r>
            <a:endParaRPr lang="en-US" sz="1100" dirty="0"/>
          </a:p>
        </p:txBody>
      </p:sp>
      <p:sp>
        <p:nvSpPr>
          <p:cNvPr id="39" name="Text 37"/>
          <p:cNvSpPr/>
          <p:nvPr/>
        </p:nvSpPr>
        <p:spPr>
          <a:xfrm>
            <a:off x="4937760" y="5074920"/>
            <a:ext cx="4846320" cy="41605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Suspicious PowerShell Network Connection</a:t>
            </a:r>
            <a:endParaRPr lang="en-US" sz="1200" dirty="0"/>
          </a:p>
        </p:txBody>
      </p:sp>
      <p:sp>
        <p:nvSpPr>
          <p:cNvPr id="40" name="Text 38"/>
          <p:cNvSpPr/>
          <p:nvPr/>
        </p:nvSpPr>
        <p:spPr>
          <a:xfrm>
            <a:off x="9829800" y="5074920"/>
            <a:ext cx="1554480" cy="416052"/>
          </a:xfrm>
          <a:prstGeom prst="rect">
            <a:avLst/>
          </a:prstGeom>
          <a:noFill/>
          <a:ln/>
        </p:spPr>
        <p:txBody>
          <a:bodyPr wrap="square" rtlCol="0" anchor="ctr"/>
          <a:lstStyle/>
          <a:p>
            <a:pPr marL="0" indent="0" algn="l">
              <a:buNone/>
            </a:pPr>
            <a:r>
              <a:rPr lang="en-US" sz="1150" b="1" dirty="0">
                <a:solidFill>
                  <a:srgbClr val="0E7C8C"/>
                </a:solidFill>
                <a:latin typeface="Calibri" pitchFamily="34" charset="0"/>
                <a:ea typeface="Calibri" pitchFamily="34" charset="-122"/>
                <a:cs typeface="Calibri" pitchFamily="34" charset="-120"/>
              </a:rPr>
              <a:t>T1105</a:t>
            </a:r>
            <a:endParaRPr lang="en-US" sz="1150" dirty="0"/>
          </a:p>
        </p:txBody>
      </p:sp>
      <p:sp>
        <p:nvSpPr>
          <p:cNvPr id="41" name="Shape 39"/>
          <p:cNvSpPr/>
          <p:nvPr/>
        </p:nvSpPr>
        <p:spPr>
          <a:xfrm>
            <a:off x="3300984" y="5490972"/>
            <a:ext cx="8165592" cy="416052"/>
          </a:xfrm>
          <a:prstGeom prst="rect">
            <a:avLst/>
          </a:prstGeom>
          <a:solidFill>
            <a:srgbClr val="EEF2F8"/>
          </a:solidFill>
          <a:ln/>
        </p:spPr>
        <p:txBody>
          <a:bodyPr/>
          <a:lstStyle/>
          <a:p>
            <a:endParaRPr lang="en-US"/>
          </a:p>
        </p:txBody>
      </p:sp>
      <p:sp>
        <p:nvSpPr>
          <p:cNvPr id="42" name="Text 40"/>
          <p:cNvSpPr/>
          <p:nvPr/>
        </p:nvSpPr>
        <p:spPr>
          <a:xfrm>
            <a:off x="3474720" y="5490972"/>
            <a:ext cx="1371600" cy="416052"/>
          </a:xfrm>
          <a:prstGeom prst="rect">
            <a:avLst/>
          </a:prstGeom>
          <a:noFill/>
          <a:ln/>
        </p:spPr>
        <p:txBody>
          <a:bodyPr wrap="square" rtlCol="0" anchor="ctr"/>
          <a:lstStyle/>
          <a:p>
            <a:pPr marL="0" indent="0">
              <a:buNone/>
            </a:pPr>
            <a:r>
              <a:rPr lang="en-US" sz="1100" b="1" dirty="0">
                <a:solidFill>
                  <a:srgbClr val="5C6B82"/>
                </a:solidFill>
                <a:latin typeface="Calibri" pitchFamily="34" charset="0"/>
                <a:ea typeface="Calibri" pitchFamily="34" charset="-122"/>
                <a:cs typeface="Calibri" pitchFamily="34" charset="-120"/>
              </a:rPr>
              <a:t>100112</a:t>
            </a:r>
            <a:endParaRPr lang="en-US" sz="1100" dirty="0"/>
          </a:p>
        </p:txBody>
      </p:sp>
      <p:sp>
        <p:nvSpPr>
          <p:cNvPr id="43" name="Text 41"/>
          <p:cNvSpPr/>
          <p:nvPr/>
        </p:nvSpPr>
        <p:spPr>
          <a:xfrm>
            <a:off x="4937760" y="5490972"/>
            <a:ext cx="4846320" cy="41605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Process Execution from Temp Folder</a:t>
            </a:r>
            <a:endParaRPr lang="en-US" sz="1200" dirty="0"/>
          </a:p>
        </p:txBody>
      </p:sp>
      <p:sp>
        <p:nvSpPr>
          <p:cNvPr id="44" name="Text 42"/>
          <p:cNvSpPr/>
          <p:nvPr/>
        </p:nvSpPr>
        <p:spPr>
          <a:xfrm>
            <a:off x="9829800" y="5490972"/>
            <a:ext cx="1554480" cy="416052"/>
          </a:xfrm>
          <a:prstGeom prst="rect">
            <a:avLst/>
          </a:prstGeom>
          <a:noFill/>
          <a:ln/>
        </p:spPr>
        <p:txBody>
          <a:bodyPr wrap="square" rtlCol="0" anchor="ctr"/>
          <a:lstStyle/>
          <a:p>
            <a:pPr marL="0" indent="0" algn="l">
              <a:buNone/>
            </a:pPr>
            <a:r>
              <a:rPr lang="en-US" sz="1150" b="1" dirty="0">
                <a:solidFill>
                  <a:srgbClr val="0E7C8C"/>
                </a:solidFill>
                <a:latin typeface="Calibri" pitchFamily="34" charset="0"/>
                <a:ea typeface="Calibri" pitchFamily="34" charset="-122"/>
                <a:cs typeface="Calibri" pitchFamily="34" charset="-120"/>
              </a:rPr>
              <a:t>T1204.002</a:t>
            </a:r>
            <a:endParaRPr lang="en-US" sz="1150" dirty="0"/>
          </a:p>
        </p:txBody>
      </p:sp>
      <p:sp>
        <p:nvSpPr>
          <p:cNvPr id="45" name="Text 43"/>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CA0BC"/>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VISUALIZATION</a:t>
            </a:r>
            <a:endParaRPr lang="en-US" sz="1200" dirty="0"/>
          </a:p>
        </p:txBody>
      </p:sp>
      <p:sp>
        <p:nvSpPr>
          <p:cNvPr id="3" name="Text 1"/>
          <p:cNvSpPr/>
          <p:nvPr/>
        </p:nvSpPr>
        <p:spPr>
          <a:xfrm>
            <a:off x="640080" y="822960"/>
            <a:ext cx="9144000" cy="64008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Two dashboards, built for analyst speed</a:t>
            </a:r>
            <a:endParaRPr lang="en-US" sz="2600" dirty="0"/>
          </a:p>
        </p:txBody>
      </p:sp>
      <p:sp>
        <p:nvSpPr>
          <p:cNvPr id="4" name="Shape 2"/>
          <p:cNvSpPr/>
          <p:nvPr/>
        </p:nvSpPr>
        <p:spPr>
          <a:xfrm>
            <a:off x="640080" y="1691640"/>
            <a:ext cx="5257800" cy="3977640"/>
          </a:xfrm>
          <a:prstGeom prst="roundRect">
            <a:avLst>
              <a:gd name="adj" fmla="val 1839"/>
            </a:avLst>
          </a:prstGeom>
          <a:solidFill>
            <a:srgbClr val="FFFFFF"/>
          </a:solidFill>
          <a:ln w="12700">
            <a:solidFill>
              <a:srgbClr val="E2E8F1"/>
            </a:solidFill>
            <a:prstDash val="solid"/>
          </a:ln>
          <a:effectLst>
            <a:outerShdw blurRad="101600" dist="38100" dir="5400000" algn="bl" rotWithShape="0">
              <a:srgbClr val="0A1628">
                <a:alpha val="18000"/>
              </a:srgbClr>
            </a:outerShdw>
          </a:effectLst>
        </p:spPr>
        <p:txBody>
          <a:bodyPr/>
          <a:lstStyle/>
          <a:p>
            <a:endParaRPr lang="en-US"/>
          </a:p>
        </p:txBody>
      </p:sp>
      <p:pic>
        <p:nvPicPr>
          <p:cNvPr id="5" name="Image 0" descr="/home/claude/pptx_build/report_images/soc_dashboard.png"/>
          <p:cNvPicPr>
            <a:picLocks noChangeAspect="1"/>
          </p:cNvPicPr>
          <p:nvPr/>
        </p:nvPicPr>
        <p:blipFill>
          <a:blip r:embed="rId3"/>
          <a:srcRect/>
          <a:stretch/>
        </p:blipFill>
        <p:spPr>
          <a:xfrm>
            <a:off x="777240" y="1828800"/>
            <a:ext cx="4983480" cy="3291840"/>
          </a:xfrm>
          <a:prstGeom prst="rect">
            <a:avLst/>
          </a:prstGeom>
        </p:spPr>
      </p:pic>
      <p:sp>
        <p:nvSpPr>
          <p:cNvPr id="6" name="Text 3"/>
          <p:cNvSpPr/>
          <p:nvPr/>
        </p:nvSpPr>
        <p:spPr>
          <a:xfrm>
            <a:off x="777240" y="5166360"/>
            <a:ext cx="4983480" cy="365760"/>
          </a:xfrm>
          <a:prstGeom prst="rect">
            <a:avLst/>
          </a:prstGeom>
          <a:noFill/>
          <a:ln/>
        </p:spPr>
        <p:txBody>
          <a:bodyPr wrap="square" rtlCol="0" anchor="ctr"/>
          <a:lstStyle/>
          <a:p>
            <a:pPr marL="0" indent="0">
              <a:buNone/>
            </a:pPr>
            <a:r>
              <a:rPr lang="en-US" sz="1350" b="1" dirty="0">
                <a:solidFill>
                  <a:srgbClr val="0A1628"/>
                </a:solidFill>
                <a:latin typeface="Calibri" pitchFamily="34" charset="0"/>
                <a:ea typeface="Calibri" pitchFamily="34" charset="-122"/>
                <a:cs typeface="Calibri" pitchFamily="34" charset="-120"/>
              </a:rPr>
              <a:t>SOC Overview Dashboard</a:t>
            </a:r>
            <a:endParaRPr lang="en-US" sz="1350" dirty="0"/>
          </a:p>
        </p:txBody>
      </p:sp>
      <p:sp>
        <p:nvSpPr>
          <p:cNvPr id="7" name="Shape 4"/>
          <p:cNvSpPr/>
          <p:nvPr/>
        </p:nvSpPr>
        <p:spPr>
          <a:xfrm>
            <a:off x="6217920" y="1691640"/>
            <a:ext cx="5257800" cy="3977640"/>
          </a:xfrm>
          <a:prstGeom prst="roundRect">
            <a:avLst>
              <a:gd name="adj" fmla="val 1839"/>
            </a:avLst>
          </a:prstGeom>
          <a:solidFill>
            <a:srgbClr val="FFFFFF"/>
          </a:solidFill>
          <a:ln w="12700">
            <a:solidFill>
              <a:srgbClr val="E2E8F1"/>
            </a:solidFill>
            <a:prstDash val="solid"/>
          </a:ln>
          <a:effectLst>
            <a:outerShdw blurRad="101600" dist="38100" dir="5400000" algn="bl" rotWithShape="0">
              <a:srgbClr val="0A1628">
                <a:alpha val="18000"/>
              </a:srgbClr>
            </a:outerShdw>
          </a:effectLst>
        </p:spPr>
        <p:txBody>
          <a:bodyPr/>
          <a:lstStyle/>
          <a:p>
            <a:endParaRPr lang="en-US"/>
          </a:p>
        </p:txBody>
      </p:sp>
      <p:pic>
        <p:nvPicPr>
          <p:cNvPr id="8" name="Image 1" descr="/home/claude/pptx_build/report_images/mitre_dashboard.png"/>
          <p:cNvPicPr>
            <a:picLocks noChangeAspect="1"/>
          </p:cNvPicPr>
          <p:nvPr/>
        </p:nvPicPr>
        <p:blipFill>
          <a:blip r:embed="rId4"/>
          <a:srcRect/>
          <a:stretch/>
        </p:blipFill>
        <p:spPr>
          <a:xfrm>
            <a:off x="6355080" y="1828800"/>
            <a:ext cx="4983480" cy="3291840"/>
          </a:xfrm>
          <a:prstGeom prst="rect">
            <a:avLst/>
          </a:prstGeom>
        </p:spPr>
      </p:pic>
      <p:sp>
        <p:nvSpPr>
          <p:cNvPr id="9" name="Text 5"/>
          <p:cNvSpPr/>
          <p:nvPr/>
        </p:nvSpPr>
        <p:spPr>
          <a:xfrm>
            <a:off x="6355080" y="5166360"/>
            <a:ext cx="4983480" cy="365760"/>
          </a:xfrm>
          <a:prstGeom prst="rect">
            <a:avLst/>
          </a:prstGeom>
          <a:noFill/>
          <a:ln/>
        </p:spPr>
        <p:txBody>
          <a:bodyPr wrap="square" rtlCol="0" anchor="ctr"/>
          <a:lstStyle/>
          <a:p>
            <a:pPr marL="0" indent="0">
              <a:buNone/>
            </a:pPr>
            <a:r>
              <a:rPr lang="en-US" sz="1350" b="1" dirty="0">
                <a:solidFill>
                  <a:srgbClr val="0A1628"/>
                </a:solidFill>
                <a:latin typeface="Calibri" pitchFamily="34" charset="0"/>
                <a:ea typeface="Calibri" pitchFamily="34" charset="-122"/>
                <a:cs typeface="Calibri" pitchFamily="34" charset="-120"/>
              </a:rPr>
              <a:t>MITRE ATT&amp;CK Dashboard</a:t>
            </a:r>
            <a:endParaRPr lang="en-US" sz="1350" dirty="0"/>
          </a:p>
        </p:txBody>
      </p:sp>
      <p:sp>
        <p:nvSpPr>
          <p:cNvPr id="10" name="Text 6"/>
          <p:cNvSpPr/>
          <p:nvPr/>
        </p:nvSpPr>
        <p:spPr>
          <a:xfrm>
            <a:off x="640080" y="5806440"/>
            <a:ext cx="10881360" cy="320040"/>
          </a:xfrm>
          <a:prstGeom prst="rect">
            <a:avLst/>
          </a:prstGeom>
          <a:noFill/>
          <a:ln/>
        </p:spPr>
        <p:txBody>
          <a:bodyPr wrap="square" rtlCol="0" anchor="ctr"/>
          <a:lstStyle/>
          <a:p>
            <a:pPr marL="0" indent="0" algn="ctr">
              <a:buNone/>
            </a:pPr>
            <a:r>
              <a:rPr lang="en-US" sz="1150" i="1" dirty="0">
                <a:solidFill>
                  <a:srgbClr val="5C6B82"/>
                </a:solidFill>
                <a:latin typeface="Calibri" pitchFamily="34" charset="0"/>
                <a:ea typeface="Calibri" pitchFamily="34" charset="-122"/>
                <a:cs typeface="Calibri" pitchFamily="34" charset="-120"/>
              </a:rPr>
              <a:t>Total alerts, severity, active agents &amp; recent events   |   Alerts mapped to attacker tactics &amp; techniques</a:t>
            </a:r>
            <a:endParaRPr lang="en-US" sz="1150" dirty="0"/>
          </a:p>
        </p:txBody>
      </p:sp>
      <p:sp>
        <p:nvSpPr>
          <p:cNvPr id="11" name="Text 7"/>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CA0BC"/>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buNone/>
            </a:pPr>
            <a:r>
              <a:rPr lang="en-US" sz="1200" b="1" kern="0" spc="200" dirty="0">
                <a:solidFill>
                  <a:srgbClr val="6FE4EC"/>
                </a:solidFill>
                <a:latin typeface="Calibri" pitchFamily="34" charset="0"/>
                <a:ea typeface="Calibri" pitchFamily="34" charset="-122"/>
                <a:cs typeface="Calibri" pitchFamily="34" charset="-120"/>
              </a:rPr>
              <a:t>THE AI LAYER</a:t>
            </a:r>
            <a:endParaRPr lang="en-US" sz="1200" dirty="0"/>
          </a:p>
        </p:txBody>
      </p:sp>
      <p:sp>
        <p:nvSpPr>
          <p:cNvPr id="3" name="Text 1"/>
          <p:cNvSpPr/>
          <p:nvPr/>
        </p:nvSpPr>
        <p:spPr>
          <a:xfrm>
            <a:off x="640080" y="777240"/>
            <a:ext cx="960120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AlertMind: a tier-1 assistant, not an autopilot</a:t>
            </a:r>
            <a:endParaRPr lang="en-US" sz="2600" dirty="0"/>
          </a:p>
        </p:txBody>
      </p:sp>
      <p:sp>
        <p:nvSpPr>
          <p:cNvPr id="4" name="Shape 2"/>
          <p:cNvSpPr/>
          <p:nvPr/>
        </p:nvSpPr>
        <p:spPr>
          <a:xfrm>
            <a:off x="777240" y="1783080"/>
            <a:ext cx="3063240" cy="960120"/>
          </a:xfrm>
          <a:prstGeom prst="roundRect">
            <a:avLst>
              <a:gd name="adj" fmla="val 9524"/>
            </a:avLst>
          </a:prstGeom>
          <a:solidFill>
            <a:srgbClr val="13223D"/>
          </a:solidFill>
          <a:ln w="12700">
            <a:solidFill>
              <a:srgbClr val="22395C"/>
            </a:solidFill>
            <a:prstDash val="solid"/>
          </a:ln>
        </p:spPr>
        <p:txBody>
          <a:bodyPr/>
          <a:lstStyle/>
          <a:p>
            <a:endParaRPr lang="en-US"/>
          </a:p>
        </p:txBody>
      </p:sp>
      <p:sp>
        <p:nvSpPr>
          <p:cNvPr id="5" name="Shape 3"/>
          <p:cNvSpPr/>
          <p:nvPr/>
        </p:nvSpPr>
        <p:spPr>
          <a:xfrm>
            <a:off x="978408" y="1984248"/>
            <a:ext cx="548640" cy="548640"/>
          </a:xfrm>
          <a:prstGeom prst="ellipse">
            <a:avLst/>
          </a:prstGeom>
          <a:solidFill>
            <a:srgbClr val="00C2D1"/>
          </a:solidFill>
          <a:ln/>
        </p:spPr>
        <p:txBody>
          <a:bodyPr/>
          <a:lstStyle/>
          <a:p>
            <a:endParaRPr lang="en-US"/>
          </a:p>
        </p:txBody>
      </p:sp>
      <p:pic>
        <p:nvPicPr>
          <p:cNvPr id="6" name="Image 0" descr="/home/claude/pptx_build/icons/server.png"/>
          <p:cNvPicPr>
            <a:picLocks noChangeAspect="1"/>
          </p:cNvPicPr>
          <p:nvPr/>
        </p:nvPicPr>
        <p:blipFill>
          <a:blip r:embed="rId3"/>
          <a:stretch>
            <a:fillRect/>
          </a:stretch>
        </p:blipFill>
        <p:spPr>
          <a:xfrm>
            <a:off x="1115568" y="2121408"/>
            <a:ext cx="274320" cy="274320"/>
          </a:xfrm>
          <a:prstGeom prst="rect">
            <a:avLst/>
          </a:prstGeom>
        </p:spPr>
      </p:pic>
      <p:sp>
        <p:nvSpPr>
          <p:cNvPr id="7" name="Text 4"/>
          <p:cNvSpPr/>
          <p:nvPr/>
        </p:nvSpPr>
        <p:spPr>
          <a:xfrm>
            <a:off x="1645920" y="1911096"/>
            <a:ext cx="205740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Wazuh Alert</a:t>
            </a:r>
            <a:endParaRPr lang="en-US" sz="1450" dirty="0"/>
          </a:p>
        </p:txBody>
      </p:sp>
      <p:sp>
        <p:nvSpPr>
          <p:cNvPr id="8" name="Text 5"/>
          <p:cNvSpPr/>
          <p:nvPr/>
        </p:nvSpPr>
        <p:spPr>
          <a:xfrm>
            <a:off x="1645920" y="2276856"/>
            <a:ext cx="2057400" cy="365760"/>
          </a:xfrm>
          <a:prstGeom prst="rect">
            <a:avLst/>
          </a:prstGeom>
          <a:noFill/>
          <a:ln/>
        </p:spPr>
        <p:txBody>
          <a:bodyPr wrap="square" rtlCol="0" anchor="ctr"/>
          <a:lstStyle/>
          <a:p>
            <a:pPr marL="0" indent="0">
              <a:buNone/>
            </a:pPr>
            <a:r>
              <a:rPr lang="en-US" sz="1050" dirty="0">
                <a:solidFill>
                  <a:srgbClr val="8CA0BC"/>
                </a:solidFill>
                <a:latin typeface="Calibri" pitchFamily="34" charset="0"/>
                <a:ea typeface="Calibri" pitchFamily="34" charset="-122"/>
                <a:cs typeface="Calibri" pitchFamily="34" charset="-120"/>
              </a:rPr>
              <a:t>JSON export</a:t>
            </a:r>
            <a:endParaRPr lang="en-US" sz="1050" dirty="0"/>
          </a:p>
        </p:txBody>
      </p:sp>
      <p:sp>
        <p:nvSpPr>
          <p:cNvPr id="9" name="Text 6"/>
          <p:cNvSpPr/>
          <p:nvPr/>
        </p:nvSpPr>
        <p:spPr>
          <a:xfrm>
            <a:off x="3858768" y="1984248"/>
            <a:ext cx="466344" cy="594360"/>
          </a:xfrm>
          <a:prstGeom prst="rect">
            <a:avLst/>
          </a:prstGeom>
          <a:noFill/>
          <a:ln/>
        </p:spPr>
        <p:txBody>
          <a:bodyPr wrap="square" rtlCol="0" anchor="ctr"/>
          <a:lstStyle/>
          <a:p>
            <a:pPr marL="0" indent="0" algn="ctr">
              <a:buNone/>
            </a:pPr>
            <a:r>
              <a:rPr lang="en-US" sz="2600" b="1" dirty="0">
                <a:solidFill>
                  <a:srgbClr val="00C2D1"/>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4343400" y="1783080"/>
            <a:ext cx="3063240" cy="960120"/>
          </a:xfrm>
          <a:prstGeom prst="roundRect">
            <a:avLst>
              <a:gd name="adj" fmla="val 9524"/>
            </a:avLst>
          </a:prstGeom>
          <a:solidFill>
            <a:srgbClr val="13223D"/>
          </a:solidFill>
          <a:ln w="12700">
            <a:solidFill>
              <a:srgbClr val="22395C"/>
            </a:solidFill>
            <a:prstDash val="solid"/>
          </a:ln>
        </p:spPr>
        <p:txBody>
          <a:bodyPr/>
          <a:lstStyle/>
          <a:p>
            <a:endParaRPr lang="en-US"/>
          </a:p>
        </p:txBody>
      </p:sp>
      <p:sp>
        <p:nvSpPr>
          <p:cNvPr id="11" name="Shape 8"/>
          <p:cNvSpPr/>
          <p:nvPr/>
        </p:nvSpPr>
        <p:spPr>
          <a:xfrm>
            <a:off x="4544568" y="1984248"/>
            <a:ext cx="548640" cy="548640"/>
          </a:xfrm>
          <a:prstGeom prst="ellipse">
            <a:avLst/>
          </a:prstGeom>
          <a:solidFill>
            <a:srgbClr val="00C2D1"/>
          </a:solidFill>
          <a:ln/>
        </p:spPr>
        <p:txBody>
          <a:bodyPr/>
          <a:lstStyle/>
          <a:p>
            <a:endParaRPr lang="en-US"/>
          </a:p>
        </p:txBody>
      </p:sp>
      <p:pic>
        <p:nvPicPr>
          <p:cNvPr id="12" name="Image 1" descr="/home/claude/pptx_build/icons/cpu.png"/>
          <p:cNvPicPr>
            <a:picLocks noChangeAspect="1"/>
          </p:cNvPicPr>
          <p:nvPr/>
        </p:nvPicPr>
        <p:blipFill>
          <a:blip r:embed="rId4"/>
          <a:stretch>
            <a:fillRect/>
          </a:stretch>
        </p:blipFill>
        <p:spPr>
          <a:xfrm>
            <a:off x="4681728" y="2121408"/>
            <a:ext cx="274320" cy="274320"/>
          </a:xfrm>
          <a:prstGeom prst="rect">
            <a:avLst/>
          </a:prstGeom>
        </p:spPr>
      </p:pic>
      <p:sp>
        <p:nvSpPr>
          <p:cNvPr id="13" name="Text 9"/>
          <p:cNvSpPr/>
          <p:nvPr/>
        </p:nvSpPr>
        <p:spPr>
          <a:xfrm>
            <a:off x="5212080" y="1911096"/>
            <a:ext cx="205740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AlertMind</a:t>
            </a:r>
            <a:endParaRPr lang="en-US" sz="1450" dirty="0"/>
          </a:p>
        </p:txBody>
      </p:sp>
      <p:sp>
        <p:nvSpPr>
          <p:cNvPr id="14" name="Text 10"/>
          <p:cNvSpPr/>
          <p:nvPr/>
        </p:nvSpPr>
        <p:spPr>
          <a:xfrm>
            <a:off x="5212080" y="2276856"/>
            <a:ext cx="2057400" cy="365760"/>
          </a:xfrm>
          <a:prstGeom prst="rect">
            <a:avLst/>
          </a:prstGeom>
          <a:noFill/>
          <a:ln/>
        </p:spPr>
        <p:txBody>
          <a:bodyPr wrap="square" rtlCol="0" anchor="ctr"/>
          <a:lstStyle/>
          <a:p>
            <a:pPr marL="0" indent="0">
              <a:buNone/>
            </a:pPr>
            <a:r>
              <a:rPr lang="en-US" sz="1050" dirty="0">
                <a:solidFill>
                  <a:srgbClr val="8CA0BC"/>
                </a:solidFill>
                <a:latin typeface="Calibri" pitchFamily="34" charset="0"/>
                <a:ea typeface="Calibri" pitchFamily="34" charset="-122"/>
                <a:cs typeface="Calibri" pitchFamily="34" charset="-120"/>
              </a:rPr>
              <a:t>LangChain + Llama 3.1 8B (Groq)</a:t>
            </a:r>
            <a:endParaRPr lang="en-US" sz="1050" dirty="0"/>
          </a:p>
        </p:txBody>
      </p:sp>
      <p:sp>
        <p:nvSpPr>
          <p:cNvPr id="15" name="Text 11"/>
          <p:cNvSpPr/>
          <p:nvPr/>
        </p:nvSpPr>
        <p:spPr>
          <a:xfrm>
            <a:off x="7424928" y="1984248"/>
            <a:ext cx="466344" cy="594360"/>
          </a:xfrm>
          <a:prstGeom prst="rect">
            <a:avLst/>
          </a:prstGeom>
          <a:noFill/>
          <a:ln/>
        </p:spPr>
        <p:txBody>
          <a:bodyPr wrap="square" rtlCol="0" anchor="ctr"/>
          <a:lstStyle/>
          <a:p>
            <a:pPr marL="0" indent="0" algn="ctr">
              <a:buNone/>
            </a:pPr>
            <a:r>
              <a:rPr lang="en-US" sz="2600" b="1" dirty="0">
                <a:solidFill>
                  <a:srgbClr val="00C2D1"/>
                </a:solidFill>
                <a:latin typeface="Calibri" pitchFamily="34" charset="0"/>
                <a:ea typeface="Calibri" pitchFamily="34" charset="-122"/>
                <a:cs typeface="Calibri" pitchFamily="34" charset="-120"/>
              </a:rPr>
              <a:t>→</a:t>
            </a:r>
            <a:endParaRPr lang="en-US" sz="2600" dirty="0"/>
          </a:p>
        </p:txBody>
      </p:sp>
      <p:sp>
        <p:nvSpPr>
          <p:cNvPr id="16" name="Shape 12"/>
          <p:cNvSpPr/>
          <p:nvPr/>
        </p:nvSpPr>
        <p:spPr>
          <a:xfrm>
            <a:off x="7909560" y="1783080"/>
            <a:ext cx="3063240" cy="960120"/>
          </a:xfrm>
          <a:prstGeom prst="roundRect">
            <a:avLst>
              <a:gd name="adj" fmla="val 9524"/>
            </a:avLst>
          </a:prstGeom>
          <a:solidFill>
            <a:srgbClr val="13223D"/>
          </a:solidFill>
          <a:ln w="12700">
            <a:solidFill>
              <a:srgbClr val="22395C"/>
            </a:solidFill>
            <a:prstDash val="solid"/>
          </a:ln>
        </p:spPr>
        <p:txBody>
          <a:bodyPr/>
          <a:lstStyle/>
          <a:p>
            <a:endParaRPr lang="en-US"/>
          </a:p>
        </p:txBody>
      </p:sp>
      <p:sp>
        <p:nvSpPr>
          <p:cNvPr id="17" name="Shape 13"/>
          <p:cNvSpPr/>
          <p:nvPr/>
        </p:nvSpPr>
        <p:spPr>
          <a:xfrm>
            <a:off x="8110728" y="1984248"/>
            <a:ext cx="548640" cy="548640"/>
          </a:xfrm>
          <a:prstGeom prst="ellipse">
            <a:avLst/>
          </a:prstGeom>
          <a:solidFill>
            <a:srgbClr val="00C2D1"/>
          </a:solidFill>
          <a:ln/>
        </p:spPr>
        <p:txBody>
          <a:bodyPr/>
          <a:lstStyle/>
          <a:p>
            <a:endParaRPr lang="en-US"/>
          </a:p>
        </p:txBody>
      </p:sp>
      <p:pic>
        <p:nvPicPr>
          <p:cNvPr id="18" name="Image 2" descr="/home/claude/pptx_build/icons/users.png"/>
          <p:cNvPicPr>
            <a:picLocks noChangeAspect="1"/>
          </p:cNvPicPr>
          <p:nvPr/>
        </p:nvPicPr>
        <p:blipFill>
          <a:blip r:embed="rId5"/>
          <a:stretch>
            <a:fillRect/>
          </a:stretch>
        </p:blipFill>
        <p:spPr>
          <a:xfrm>
            <a:off x="8247888" y="2121408"/>
            <a:ext cx="274320" cy="274320"/>
          </a:xfrm>
          <a:prstGeom prst="rect">
            <a:avLst/>
          </a:prstGeom>
        </p:spPr>
      </p:pic>
      <p:sp>
        <p:nvSpPr>
          <p:cNvPr id="19" name="Text 14"/>
          <p:cNvSpPr/>
          <p:nvPr/>
        </p:nvSpPr>
        <p:spPr>
          <a:xfrm>
            <a:off x="8778240" y="1911096"/>
            <a:ext cx="205740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Analyst Review</a:t>
            </a:r>
            <a:endParaRPr lang="en-US" sz="1450" dirty="0"/>
          </a:p>
        </p:txBody>
      </p:sp>
      <p:sp>
        <p:nvSpPr>
          <p:cNvPr id="20" name="Text 15"/>
          <p:cNvSpPr/>
          <p:nvPr/>
        </p:nvSpPr>
        <p:spPr>
          <a:xfrm>
            <a:off x="8778240" y="2276856"/>
            <a:ext cx="2057400" cy="365760"/>
          </a:xfrm>
          <a:prstGeom prst="rect">
            <a:avLst/>
          </a:prstGeom>
          <a:noFill/>
          <a:ln/>
        </p:spPr>
        <p:txBody>
          <a:bodyPr wrap="square" rtlCol="0" anchor="ctr"/>
          <a:lstStyle/>
          <a:p>
            <a:pPr marL="0" indent="0">
              <a:buNone/>
            </a:pPr>
            <a:r>
              <a:rPr lang="en-US" sz="1050" dirty="0">
                <a:solidFill>
                  <a:srgbClr val="8CA0BC"/>
                </a:solidFill>
                <a:latin typeface="Calibri" pitchFamily="34" charset="0"/>
                <a:ea typeface="Calibri" pitchFamily="34" charset="-122"/>
                <a:cs typeface="Calibri" pitchFamily="34" charset="-120"/>
              </a:rPr>
              <a:t>Human approves every action</a:t>
            </a:r>
            <a:endParaRPr lang="en-US" sz="1050" dirty="0"/>
          </a:p>
        </p:txBody>
      </p:sp>
      <p:sp>
        <p:nvSpPr>
          <p:cNvPr id="21" name="Text 16"/>
          <p:cNvSpPr/>
          <p:nvPr/>
        </p:nvSpPr>
        <p:spPr>
          <a:xfrm>
            <a:off x="777240" y="3108960"/>
            <a:ext cx="54864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For every alert, AlertMind generates:</a:t>
            </a:r>
            <a:endParaRPr lang="en-US" sz="1500" dirty="0"/>
          </a:p>
        </p:txBody>
      </p:sp>
      <p:sp>
        <p:nvSpPr>
          <p:cNvPr id="22" name="Shape 17"/>
          <p:cNvSpPr/>
          <p:nvPr/>
        </p:nvSpPr>
        <p:spPr>
          <a:xfrm>
            <a:off x="841248" y="3648456"/>
            <a:ext cx="82296" cy="82296"/>
          </a:xfrm>
          <a:prstGeom prst="ellipse">
            <a:avLst/>
          </a:prstGeom>
          <a:solidFill>
            <a:srgbClr val="00C2D1"/>
          </a:solidFill>
          <a:ln/>
        </p:spPr>
        <p:txBody>
          <a:bodyPr/>
          <a:lstStyle/>
          <a:p>
            <a:endParaRPr lang="en-US"/>
          </a:p>
        </p:txBody>
      </p:sp>
      <p:sp>
        <p:nvSpPr>
          <p:cNvPr id="23" name="Text 18"/>
          <p:cNvSpPr/>
          <p:nvPr/>
        </p:nvSpPr>
        <p:spPr>
          <a:xfrm>
            <a:off x="1051560" y="3511296"/>
            <a:ext cx="5212080" cy="365760"/>
          </a:xfrm>
          <a:prstGeom prst="rect">
            <a:avLst/>
          </a:prstGeom>
          <a:noFill/>
          <a:ln/>
        </p:spPr>
        <p:txBody>
          <a:bodyPr wrap="square" rtlCol="0" anchor="ctr"/>
          <a:lstStyle/>
          <a:p>
            <a:pPr marL="0" indent="0">
              <a:buNone/>
            </a:pPr>
            <a:r>
              <a:rPr lang="en-US" sz="1300" dirty="0">
                <a:solidFill>
                  <a:srgbClr val="D6E2F0"/>
                </a:solidFill>
                <a:latin typeface="Calibri" pitchFamily="34" charset="0"/>
                <a:ea typeface="Calibri" pitchFamily="34" charset="-122"/>
                <a:cs typeface="Calibri" pitchFamily="34" charset="-120"/>
              </a:rPr>
              <a:t>Concise alert summary</a:t>
            </a:r>
            <a:endParaRPr lang="en-US" sz="1300" dirty="0"/>
          </a:p>
        </p:txBody>
      </p:sp>
      <p:sp>
        <p:nvSpPr>
          <p:cNvPr id="24" name="Shape 19"/>
          <p:cNvSpPr/>
          <p:nvPr/>
        </p:nvSpPr>
        <p:spPr>
          <a:xfrm>
            <a:off x="841248" y="4069080"/>
            <a:ext cx="82296" cy="82296"/>
          </a:xfrm>
          <a:prstGeom prst="ellipse">
            <a:avLst/>
          </a:prstGeom>
          <a:solidFill>
            <a:srgbClr val="00C2D1"/>
          </a:solidFill>
          <a:ln/>
        </p:spPr>
        <p:txBody>
          <a:bodyPr/>
          <a:lstStyle/>
          <a:p>
            <a:endParaRPr lang="en-US"/>
          </a:p>
        </p:txBody>
      </p:sp>
      <p:sp>
        <p:nvSpPr>
          <p:cNvPr id="25" name="Text 20"/>
          <p:cNvSpPr/>
          <p:nvPr/>
        </p:nvSpPr>
        <p:spPr>
          <a:xfrm>
            <a:off x="1051560" y="3931920"/>
            <a:ext cx="5212080" cy="365760"/>
          </a:xfrm>
          <a:prstGeom prst="rect">
            <a:avLst/>
          </a:prstGeom>
          <a:noFill/>
          <a:ln/>
        </p:spPr>
        <p:txBody>
          <a:bodyPr wrap="square" rtlCol="0" anchor="ctr"/>
          <a:lstStyle/>
          <a:p>
            <a:pPr marL="0" indent="0">
              <a:buNone/>
            </a:pPr>
            <a:r>
              <a:rPr lang="en-US" sz="1300" dirty="0">
                <a:solidFill>
                  <a:srgbClr val="D6E2F0"/>
                </a:solidFill>
                <a:latin typeface="Calibri" pitchFamily="34" charset="0"/>
                <a:ea typeface="Calibri" pitchFamily="34" charset="-122"/>
                <a:cs typeface="Calibri" pitchFamily="34" charset="-120"/>
              </a:rPr>
              <a:t>MITRE ATT&amp;CK technique mapping</a:t>
            </a:r>
            <a:endParaRPr lang="en-US" sz="1300" dirty="0"/>
          </a:p>
        </p:txBody>
      </p:sp>
      <p:sp>
        <p:nvSpPr>
          <p:cNvPr id="26" name="Shape 21"/>
          <p:cNvSpPr/>
          <p:nvPr/>
        </p:nvSpPr>
        <p:spPr>
          <a:xfrm>
            <a:off x="841248" y="4489704"/>
            <a:ext cx="82296" cy="82296"/>
          </a:xfrm>
          <a:prstGeom prst="ellipse">
            <a:avLst/>
          </a:prstGeom>
          <a:solidFill>
            <a:srgbClr val="00C2D1"/>
          </a:solidFill>
          <a:ln/>
        </p:spPr>
        <p:txBody>
          <a:bodyPr/>
          <a:lstStyle/>
          <a:p>
            <a:endParaRPr lang="en-US"/>
          </a:p>
        </p:txBody>
      </p:sp>
      <p:sp>
        <p:nvSpPr>
          <p:cNvPr id="27" name="Text 22"/>
          <p:cNvSpPr/>
          <p:nvPr/>
        </p:nvSpPr>
        <p:spPr>
          <a:xfrm>
            <a:off x="1051560" y="4352544"/>
            <a:ext cx="5212080" cy="365760"/>
          </a:xfrm>
          <a:prstGeom prst="rect">
            <a:avLst/>
          </a:prstGeom>
          <a:noFill/>
          <a:ln/>
        </p:spPr>
        <p:txBody>
          <a:bodyPr wrap="square" rtlCol="0" anchor="ctr"/>
          <a:lstStyle/>
          <a:p>
            <a:pPr marL="0" indent="0">
              <a:buNone/>
            </a:pPr>
            <a:r>
              <a:rPr lang="en-US" sz="1300" dirty="0">
                <a:solidFill>
                  <a:srgbClr val="D6E2F0"/>
                </a:solidFill>
                <a:latin typeface="Calibri" pitchFamily="34" charset="0"/>
                <a:ea typeface="Calibri" pitchFamily="34" charset="-122"/>
                <a:cs typeface="Calibri" pitchFamily="34" charset="-120"/>
              </a:rPr>
              <a:t>Suggested investigation queries</a:t>
            </a:r>
            <a:endParaRPr lang="en-US" sz="1300" dirty="0"/>
          </a:p>
        </p:txBody>
      </p:sp>
      <p:sp>
        <p:nvSpPr>
          <p:cNvPr id="28" name="Shape 23"/>
          <p:cNvSpPr/>
          <p:nvPr/>
        </p:nvSpPr>
        <p:spPr>
          <a:xfrm>
            <a:off x="841248" y="4910328"/>
            <a:ext cx="82296" cy="82296"/>
          </a:xfrm>
          <a:prstGeom prst="ellipse">
            <a:avLst/>
          </a:prstGeom>
          <a:solidFill>
            <a:srgbClr val="00C2D1"/>
          </a:solidFill>
          <a:ln/>
        </p:spPr>
        <p:txBody>
          <a:bodyPr/>
          <a:lstStyle/>
          <a:p>
            <a:endParaRPr lang="en-US"/>
          </a:p>
        </p:txBody>
      </p:sp>
      <p:sp>
        <p:nvSpPr>
          <p:cNvPr id="29" name="Text 24"/>
          <p:cNvSpPr/>
          <p:nvPr/>
        </p:nvSpPr>
        <p:spPr>
          <a:xfrm>
            <a:off x="1051560" y="4773168"/>
            <a:ext cx="5212080" cy="365760"/>
          </a:xfrm>
          <a:prstGeom prst="rect">
            <a:avLst/>
          </a:prstGeom>
          <a:noFill/>
          <a:ln/>
        </p:spPr>
        <p:txBody>
          <a:bodyPr wrap="square" rtlCol="0" anchor="ctr"/>
          <a:lstStyle/>
          <a:p>
            <a:pPr marL="0" indent="0">
              <a:buNone/>
            </a:pPr>
            <a:r>
              <a:rPr lang="en-US" sz="1300" dirty="0">
                <a:solidFill>
                  <a:srgbClr val="D6E2F0"/>
                </a:solidFill>
                <a:latin typeface="Calibri" pitchFamily="34" charset="0"/>
                <a:ea typeface="Calibri" pitchFamily="34" charset="-122"/>
                <a:cs typeface="Calibri" pitchFamily="34" charset="-120"/>
              </a:rPr>
              <a:t>Recommended analyst actions</a:t>
            </a:r>
            <a:endParaRPr lang="en-US" sz="1300" dirty="0"/>
          </a:p>
        </p:txBody>
      </p:sp>
      <p:sp>
        <p:nvSpPr>
          <p:cNvPr id="30" name="Shape 25"/>
          <p:cNvSpPr/>
          <p:nvPr/>
        </p:nvSpPr>
        <p:spPr>
          <a:xfrm>
            <a:off x="841248" y="5330952"/>
            <a:ext cx="82296" cy="82296"/>
          </a:xfrm>
          <a:prstGeom prst="ellipse">
            <a:avLst/>
          </a:prstGeom>
          <a:solidFill>
            <a:srgbClr val="00C2D1"/>
          </a:solidFill>
          <a:ln/>
        </p:spPr>
        <p:txBody>
          <a:bodyPr/>
          <a:lstStyle/>
          <a:p>
            <a:endParaRPr lang="en-US"/>
          </a:p>
        </p:txBody>
      </p:sp>
      <p:sp>
        <p:nvSpPr>
          <p:cNvPr id="31" name="Text 26"/>
          <p:cNvSpPr/>
          <p:nvPr/>
        </p:nvSpPr>
        <p:spPr>
          <a:xfrm>
            <a:off x="1051560" y="5193792"/>
            <a:ext cx="5212080" cy="365760"/>
          </a:xfrm>
          <a:prstGeom prst="rect">
            <a:avLst/>
          </a:prstGeom>
          <a:noFill/>
          <a:ln/>
        </p:spPr>
        <p:txBody>
          <a:bodyPr wrap="square" rtlCol="0" anchor="ctr"/>
          <a:lstStyle/>
          <a:p>
            <a:pPr marL="0" indent="0">
              <a:buNone/>
            </a:pPr>
            <a:r>
              <a:rPr lang="en-US" sz="1300" dirty="0">
                <a:solidFill>
                  <a:srgbClr val="D6E2F0"/>
                </a:solidFill>
                <a:latin typeface="Calibri" pitchFamily="34" charset="0"/>
                <a:ea typeface="Calibri" pitchFamily="34" charset="-122"/>
                <a:cs typeface="Calibri" pitchFamily="34" charset="-120"/>
              </a:rPr>
              <a:t>Draft stakeholder notification</a:t>
            </a:r>
            <a:endParaRPr lang="en-US" sz="1300" dirty="0"/>
          </a:p>
        </p:txBody>
      </p:sp>
      <p:sp>
        <p:nvSpPr>
          <p:cNvPr id="32" name="Shape 27"/>
          <p:cNvSpPr/>
          <p:nvPr/>
        </p:nvSpPr>
        <p:spPr>
          <a:xfrm>
            <a:off x="7040880" y="3108960"/>
            <a:ext cx="4526280" cy="3063240"/>
          </a:xfrm>
          <a:prstGeom prst="roundRect">
            <a:avLst>
              <a:gd name="adj" fmla="val 2985"/>
            </a:avLst>
          </a:prstGeom>
          <a:solidFill>
            <a:srgbClr val="13223D"/>
          </a:solidFill>
          <a:ln w="12700">
            <a:solidFill>
              <a:srgbClr val="22395C"/>
            </a:solidFill>
            <a:prstDash val="solid"/>
          </a:ln>
        </p:spPr>
        <p:txBody>
          <a:bodyPr/>
          <a:lstStyle/>
          <a:p>
            <a:endParaRPr lang="en-US"/>
          </a:p>
        </p:txBody>
      </p:sp>
      <p:sp>
        <p:nvSpPr>
          <p:cNvPr id="33" name="Shape 28"/>
          <p:cNvSpPr/>
          <p:nvPr/>
        </p:nvSpPr>
        <p:spPr>
          <a:xfrm>
            <a:off x="7315200" y="3383280"/>
            <a:ext cx="548640" cy="548640"/>
          </a:xfrm>
          <a:prstGeom prst="ellipse">
            <a:avLst/>
          </a:prstGeom>
          <a:solidFill>
            <a:srgbClr val="00C2D1"/>
          </a:solidFill>
          <a:ln/>
        </p:spPr>
        <p:txBody>
          <a:bodyPr/>
          <a:lstStyle/>
          <a:p>
            <a:endParaRPr lang="en-US"/>
          </a:p>
        </p:txBody>
      </p:sp>
      <p:pic>
        <p:nvPicPr>
          <p:cNvPr id="34" name="Image 3" descr="/home/claude/pptx_build/icons/trendingup.png"/>
          <p:cNvPicPr>
            <a:picLocks noChangeAspect="1"/>
          </p:cNvPicPr>
          <p:nvPr/>
        </p:nvPicPr>
        <p:blipFill>
          <a:blip r:embed="rId6"/>
          <a:stretch>
            <a:fillRect/>
          </a:stretch>
        </p:blipFill>
        <p:spPr>
          <a:xfrm>
            <a:off x="7452360" y="3520440"/>
            <a:ext cx="274320" cy="274320"/>
          </a:xfrm>
          <a:prstGeom prst="rect">
            <a:avLst/>
          </a:prstGeom>
        </p:spPr>
      </p:pic>
      <p:sp>
        <p:nvSpPr>
          <p:cNvPr id="35" name="Text 29"/>
          <p:cNvSpPr/>
          <p:nvPr/>
        </p:nvSpPr>
        <p:spPr>
          <a:xfrm>
            <a:off x="7315200" y="4041648"/>
            <a:ext cx="402336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Why this shape works</a:t>
            </a:r>
            <a:endParaRPr lang="en-US" sz="1450" dirty="0"/>
          </a:p>
        </p:txBody>
      </p:sp>
      <p:sp>
        <p:nvSpPr>
          <p:cNvPr id="36" name="Text 30"/>
          <p:cNvSpPr/>
          <p:nvPr/>
        </p:nvSpPr>
        <p:spPr>
          <a:xfrm>
            <a:off x="7315200" y="4480560"/>
            <a:ext cx="4023360" cy="1554480"/>
          </a:xfrm>
          <a:prstGeom prst="rect">
            <a:avLst/>
          </a:prstGeom>
          <a:noFill/>
          <a:ln/>
        </p:spPr>
        <p:txBody>
          <a:bodyPr wrap="square" rtlCol="0" anchor="t"/>
          <a:lstStyle/>
          <a:p>
            <a:pPr marL="0" indent="0">
              <a:buNone/>
            </a:pPr>
            <a:r>
              <a:rPr lang="en-US" sz="1200" dirty="0">
                <a:solidFill>
                  <a:srgbClr val="C6D4E8"/>
                </a:solidFill>
                <a:latin typeface="Calibri" pitchFamily="34" charset="0"/>
                <a:ea typeface="Calibri" pitchFamily="34" charset="-122"/>
                <a:cs typeface="Calibri" pitchFamily="34" charset="-120"/>
              </a:rPr>
              <a:t>The assistant never touches raw logs directly — it only reasons over an already-detected, structured alert. Detection stays with Wazuh; AlertMind only interprets. That keeps the AI layer swappable and the SOC's ground truth trustworthy.</a:t>
            </a:r>
            <a:endParaRPr lang="en-US" sz="1200" dirty="0"/>
          </a:p>
        </p:txBody>
      </p:sp>
      <p:sp>
        <p:nvSpPr>
          <p:cNvPr id="37" name="Text 31"/>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3E517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RESPONSIBLE AI</a:t>
            </a:r>
            <a:endParaRPr lang="en-US" sz="1200" dirty="0"/>
          </a:p>
        </p:txBody>
      </p:sp>
      <p:sp>
        <p:nvSpPr>
          <p:cNvPr id="3" name="Text 1"/>
          <p:cNvSpPr/>
          <p:nvPr/>
        </p:nvSpPr>
        <p:spPr>
          <a:xfrm>
            <a:off x="640080" y="822960"/>
            <a:ext cx="9144000" cy="640080"/>
          </a:xfrm>
          <a:prstGeom prst="rect">
            <a:avLst/>
          </a:prstGeom>
          <a:noFill/>
          <a:ln/>
        </p:spPr>
        <p:txBody>
          <a:bodyPr wrap="square" rtlCol="0" anchor="ctr"/>
          <a:lstStyle/>
          <a:p>
            <a:pPr marL="0" indent="0">
              <a:buNone/>
            </a:pPr>
            <a:r>
              <a:rPr lang="en-US" sz="2700" b="1" dirty="0">
                <a:solidFill>
                  <a:srgbClr val="0A1628"/>
                </a:solidFill>
                <a:latin typeface="Calibri" pitchFamily="34" charset="0"/>
                <a:ea typeface="Calibri" pitchFamily="34" charset="-122"/>
                <a:cs typeface="Calibri" pitchFamily="34" charset="-120"/>
              </a:rPr>
              <a:t>Guardrails that keep a human in charge</a:t>
            </a:r>
            <a:endParaRPr lang="en-US" sz="2700" dirty="0"/>
          </a:p>
        </p:txBody>
      </p:sp>
      <p:sp>
        <p:nvSpPr>
          <p:cNvPr id="4" name="Shape 2"/>
          <p:cNvSpPr/>
          <p:nvPr/>
        </p:nvSpPr>
        <p:spPr>
          <a:xfrm>
            <a:off x="640080" y="1874520"/>
            <a:ext cx="2606040" cy="4160520"/>
          </a:xfrm>
          <a:prstGeom prst="roundRect">
            <a:avLst>
              <a:gd name="adj" fmla="val 3509"/>
            </a:avLst>
          </a:prstGeom>
          <a:solidFill>
            <a:srgbClr val="FFFFFF"/>
          </a:solidFill>
          <a:ln w="12700">
            <a:solidFill>
              <a:srgbClr val="E2E8F1"/>
            </a:solidFill>
            <a:prstDash val="solid"/>
          </a:ln>
          <a:effectLst>
            <a:outerShdw blurRad="101600" dist="38100" dir="5400000" algn="bl" rotWithShape="0">
              <a:srgbClr val="0A1628">
                <a:alpha val="18000"/>
              </a:srgbClr>
            </a:outerShdw>
          </a:effectLst>
        </p:spPr>
        <p:txBody>
          <a:bodyPr/>
          <a:lstStyle/>
          <a:p>
            <a:endParaRPr lang="en-US"/>
          </a:p>
        </p:txBody>
      </p:sp>
      <p:sp>
        <p:nvSpPr>
          <p:cNvPr id="5" name="Shape 3"/>
          <p:cNvSpPr/>
          <p:nvPr/>
        </p:nvSpPr>
        <p:spPr>
          <a:xfrm>
            <a:off x="914400" y="2194560"/>
            <a:ext cx="640080" cy="640080"/>
          </a:xfrm>
          <a:prstGeom prst="ellipse">
            <a:avLst/>
          </a:prstGeom>
          <a:solidFill>
            <a:srgbClr val="0A1628"/>
          </a:solidFill>
          <a:ln/>
        </p:spPr>
        <p:txBody>
          <a:bodyPr/>
          <a:lstStyle/>
          <a:p>
            <a:endParaRPr lang="en-US"/>
          </a:p>
        </p:txBody>
      </p:sp>
      <p:pic>
        <p:nvPicPr>
          <p:cNvPr id="6" name="Image 0" descr="/home/claude/pptx_build/icons/lock.png"/>
          <p:cNvPicPr>
            <a:picLocks noChangeAspect="1"/>
          </p:cNvPicPr>
          <p:nvPr/>
        </p:nvPicPr>
        <p:blipFill>
          <a:blip r:embed="rId3"/>
          <a:stretch>
            <a:fillRect/>
          </a:stretch>
        </p:blipFill>
        <p:spPr>
          <a:xfrm>
            <a:off x="1068019" y="2348179"/>
            <a:ext cx="332842" cy="332842"/>
          </a:xfrm>
          <a:prstGeom prst="rect">
            <a:avLst/>
          </a:prstGeom>
        </p:spPr>
      </p:pic>
      <p:sp>
        <p:nvSpPr>
          <p:cNvPr id="7" name="Text 4"/>
          <p:cNvSpPr/>
          <p:nvPr/>
        </p:nvSpPr>
        <p:spPr>
          <a:xfrm>
            <a:off x="896112" y="3063240"/>
            <a:ext cx="2103120" cy="685800"/>
          </a:xfrm>
          <a:prstGeom prst="rect">
            <a:avLst/>
          </a:prstGeom>
          <a:noFill/>
          <a:ln/>
        </p:spPr>
        <p:txBody>
          <a:bodyPr wrap="square"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Prompt Sanitization</a:t>
            </a:r>
            <a:endParaRPr lang="en-US" sz="1400" dirty="0"/>
          </a:p>
        </p:txBody>
      </p:sp>
      <p:sp>
        <p:nvSpPr>
          <p:cNvPr id="8" name="Text 5"/>
          <p:cNvSpPr/>
          <p:nvPr/>
        </p:nvSpPr>
        <p:spPr>
          <a:xfrm>
            <a:off x="896112" y="3749040"/>
            <a:ext cx="2103120" cy="2103120"/>
          </a:xfrm>
          <a:prstGeom prst="rect">
            <a:avLst/>
          </a:prstGeom>
          <a:noFill/>
          <a:ln/>
        </p:spPr>
        <p:txBody>
          <a:bodyPr wrap="square" rtlCol="0" anchor="t"/>
          <a:lstStyle/>
          <a:p>
            <a:pPr marL="0" indent="0">
              <a:buNone/>
            </a:pPr>
            <a:r>
              <a:rPr lang="en-US" sz="1150" dirty="0">
                <a:solidFill>
                  <a:srgbClr val="5C6B82"/>
                </a:solidFill>
                <a:latin typeface="Calibri" pitchFamily="34" charset="0"/>
                <a:ea typeface="Calibri" pitchFamily="34" charset="-122"/>
                <a:cs typeface="Calibri" pitchFamily="34" charset="-120"/>
              </a:rPr>
              <a:t>Inputs are cleaned before reaching the model, reducing prompt-injection risk.</a:t>
            </a:r>
            <a:endParaRPr lang="en-US" sz="1150" dirty="0"/>
          </a:p>
        </p:txBody>
      </p:sp>
      <p:sp>
        <p:nvSpPr>
          <p:cNvPr id="9" name="Shape 6"/>
          <p:cNvSpPr/>
          <p:nvPr/>
        </p:nvSpPr>
        <p:spPr>
          <a:xfrm>
            <a:off x="3502152" y="1874520"/>
            <a:ext cx="2606040" cy="4160520"/>
          </a:xfrm>
          <a:prstGeom prst="roundRect">
            <a:avLst>
              <a:gd name="adj" fmla="val 3509"/>
            </a:avLst>
          </a:prstGeom>
          <a:solidFill>
            <a:srgbClr val="FFFFFF"/>
          </a:solidFill>
          <a:ln w="12700">
            <a:solidFill>
              <a:srgbClr val="E2E8F1"/>
            </a:solidFill>
            <a:prstDash val="solid"/>
          </a:ln>
          <a:effectLst>
            <a:outerShdw blurRad="101600" dist="38100" dir="5400000" algn="bl" rotWithShape="0">
              <a:srgbClr val="0A1628">
                <a:alpha val="18000"/>
              </a:srgbClr>
            </a:outerShdw>
          </a:effectLst>
        </p:spPr>
        <p:txBody>
          <a:bodyPr/>
          <a:lstStyle/>
          <a:p>
            <a:endParaRPr lang="en-US"/>
          </a:p>
        </p:txBody>
      </p:sp>
      <p:sp>
        <p:nvSpPr>
          <p:cNvPr id="10" name="Shape 7"/>
          <p:cNvSpPr/>
          <p:nvPr/>
        </p:nvSpPr>
        <p:spPr>
          <a:xfrm>
            <a:off x="3776472" y="2194560"/>
            <a:ext cx="640080" cy="640080"/>
          </a:xfrm>
          <a:prstGeom prst="ellipse">
            <a:avLst/>
          </a:prstGeom>
          <a:solidFill>
            <a:srgbClr val="0A1628"/>
          </a:solidFill>
          <a:ln/>
        </p:spPr>
        <p:txBody>
          <a:bodyPr/>
          <a:lstStyle/>
          <a:p>
            <a:endParaRPr lang="en-US"/>
          </a:p>
        </p:txBody>
      </p:sp>
      <p:pic>
        <p:nvPicPr>
          <p:cNvPr id="11" name="Image 1" descr="/home/claude/pptx_build/icons/filetext.png"/>
          <p:cNvPicPr>
            <a:picLocks noChangeAspect="1"/>
          </p:cNvPicPr>
          <p:nvPr/>
        </p:nvPicPr>
        <p:blipFill>
          <a:blip r:embed="rId4"/>
          <a:stretch>
            <a:fillRect/>
          </a:stretch>
        </p:blipFill>
        <p:spPr>
          <a:xfrm>
            <a:off x="3930091" y="2348179"/>
            <a:ext cx="332842" cy="332842"/>
          </a:xfrm>
          <a:prstGeom prst="rect">
            <a:avLst/>
          </a:prstGeom>
        </p:spPr>
      </p:pic>
      <p:sp>
        <p:nvSpPr>
          <p:cNvPr id="12" name="Text 8"/>
          <p:cNvSpPr/>
          <p:nvPr/>
        </p:nvSpPr>
        <p:spPr>
          <a:xfrm>
            <a:off x="3758184" y="3063240"/>
            <a:ext cx="2103120" cy="685800"/>
          </a:xfrm>
          <a:prstGeom prst="rect">
            <a:avLst/>
          </a:prstGeom>
          <a:noFill/>
          <a:ln/>
        </p:spPr>
        <p:txBody>
          <a:bodyPr wrap="square"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Full Audit Logging</a:t>
            </a:r>
            <a:endParaRPr lang="en-US" sz="1400" dirty="0"/>
          </a:p>
        </p:txBody>
      </p:sp>
      <p:sp>
        <p:nvSpPr>
          <p:cNvPr id="13" name="Text 9"/>
          <p:cNvSpPr/>
          <p:nvPr/>
        </p:nvSpPr>
        <p:spPr>
          <a:xfrm>
            <a:off x="3758184" y="3749040"/>
            <a:ext cx="2103120" cy="2103120"/>
          </a:xfrm>
          <a:prstGeom prst="rect">
            <a:avLst/>
          </a:prstGeom>
          <a:noFill/>
          <a:ln/>
        </p:spPr>
        <p:txBody>
          <a:bodyPr wrap="square" rtlCol="0" anchor="t"/>
          <a:lstStyle/>
          <a:p>
            <a:pPr marL="0" indent="0">
              <a:buNone/>
            </a:pPr>
            <a:r>
              <a:rPr lang="en-US" sz="1150" dirty="0">
                <a:solidFill>
                  <a:srgbClr val="5C6B82"/>
                </a:solidFill>
                <a:latin typeface="Calibri" pitchFamily="34" charset="0"/>
                <a:ea typeface="Calibri" pitchFamily="34" charset="-122"/>
                <a:cs typeface="Calibri" pitchFamily="34" charset="-120"/>
              </a:rPr>
              <a:t>Every prompt and AI response is logged for traceability and review.</a:t>
            </a:r>
            <a:endParaRPr lang="en-US" sz="1150" dirty="0"/>
          </a:p>
        </p:txBody>
      </p:sp>
      <p:sp>
        <p:nvSpPr>
          <p:cNvPr id="14" name="Shape 10"/>
          <p:cNvSpPr/>
          <p:nvPr/>
        </p:nvSpPr>
        <p:spPr>
          <a:xfrm>
            <a:off x="6364224" y="1874520"/>
            <a:ext cx="2606040" cy="4160520"/>
          </a:xfrm>
          <a:prstGeom prst="roundRect">
            <a:avLst>
              <a:gd name="adj" fmla="val 3509"/>
            </a:avLst>
          </a:prstGeom>
          <a:solidFill>
            <a:srgbClr val="FFFFFF"/>
          </a:solidFill>
          <a:ln w="12700">
            <a:solidFill>
              <a:srgbClr val="E2E8F1"/>
            </a:solidFill>
            <a:prstDash val="solid"/>
          </a:ln>
          <a:effectLst>
            <a:outerShdw blurRad="101600" dist="38100" dir="5400000" algn="bl" rotWithShape="0">
              <a:srgbClr val="0A1628">
                <a:alpha val="18000"/>
              </a:srgbClr>
            </a:outerShdw>
          </a:effectLst>
        </p:spPr>
        <p:txBody>
          <a:bodyPr/>
          <a:lstStyle/>
          <a:p>
            <a:endParaRPr lang="en-US"/>
          </a:p>
        </p:txBody>
      </p:sp>
      <p:sp>
        <p:nvSpPr>
          <p:cNvPr id="15" name="Shape 11"/>
          <p:cNvSpPr/>
          <p:nvPr/>
        </p:nvSpPr>
        <p:spPr>
          <a:xfrm>
            <a:off x="6638544" y="2194560"/>
            <a:ext cx="640080" cy="640080"/>
          </a:xfrm>
          <a:prstGeom prst="ellipse">
            <a:avLst/>
          </a:prstGeom>
          <a:solidFill>
            <a:srgbClr val="0A1628"/>
          </a:solidFill>
          <a:ln/>
        </p:spPr>
        <p:txBody>
          <a:bodyPr/>
          <a:lstStyle/>
          <a:p>
            <a:endParaRPr lang="en-US"/>
          </a:p>
        </p:txBody>
      </p:sp>
      <p:pic>
        <p:nvPicPr>
          <p:cNvPr id="16" name="Image 2" descr="/home/claude/pptx_build/icons/users.png"/>
          <p:cNvPicPr>
            <a:picLocks noChangeAspect="1"/>
          </p:cNvPicPr>
          <p:nvPr/>
        </p:nvPicPr>
        <p:blipFill>
          <a:blip r:embed="rId5"/>
          <a:stretch>
            <a:fillRect/>
          </a:stretch>
        </p:blipFill>
        <p:spPr>
          <a:xfrm>
            <a:off x="6792163" y="2348179"/>
            <a:ext cx="332842" cy="332842"/>
          </a:xfrm>
          <a:prstGeom prst="rect">
            <a:avLst/>
          </a:prstGeom>
        </p:spPr>
      </p:pic>
      <p:sp>
        <p:nvSpPr>
          <p:cNvPr id="17" name="Text 12"/>
          <p:cNvSpPr/>
          <p:nvPr/>
        </p:nvSpPr>
        <p:spPr>
          <a:xfrm>
            <a:off x="6620256" y="3063240"/>
            <a:ext cx="2103120" cy="685800"/>
          </a:xfrm>
          <a:prstGeom prst="rect">
            <a:avLst/>
          </a:prstGeom>
          <a:noFill/>
          <a:ln/>
        </p:spPr>
        <p:txBody>
          <a:bodyPr wrap="square"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Mandatory Human Review</a:t>
            </a:r>
            <a:endParaRPr lang="en-US" sz="1400" dirty="0"/>
          </a:p>
        </p:txBody>
      </p:sp>
      <p:sp>
        <p:nvSpPr>
          <p:cNvPr id="18" name="Text 13"/>
          <p:cNvSpPr/>
          <p:nvPr/>
        </p:nvSpPr>
        <p:spPr>
          <a:xfrm>
            <a:off x="6620256" y="3749040"/>
            <a:ext cx="2103120" cy="2103120"/>
          </a:xfrm>
          <a:prstGeom prst="rect">
            <a:avLst/>
          </a:prstGeom>
          <a:noFill/>
          <a:ln/>
        </p:spPr>
        <p:txBody>
          <a:bodyPr wrap="square" rtlCol="0" anchor="t"/>
          <a:lstStyle/>
          <a:p>
            <a:pPr marL="0" indent="0">
              <a:buNone/>
            </a:pPr>
            <a:r>
              <a:rPr lang="en-US" sz="1150" dirty="0">
                <a:solidFill>
                  <a:srgbClr val="5C6B82"/>
                </a:solidFill>
                <a:latin typeface="Calibri" pitchFamily="34" charset="0"/>
                <a:ea typeface="Calibri" pitchFamily="34" charset="-122"/>
                <a:cs typeface="Calibri" pitchFamily="34" charset="-120"/>
              </a:rPr>
              <a:t>No recommendation is acted on without analyst sign-off.</a:t>
            </a:r>
            <a:endParaRPr lang="en-US" sz="1150" dirty="0"/>
          </a:p>
        </p:txBody>
      </p:sp>
      <p:sp>
        <p:nvSpPr>
          <p:cNvPr id="19" name="Shape 14"/>
          <p:cNvSpPr/>
          <p:nvPr/>
        </p:nvSpPr>
        <p:spPr>
          <a:xfrm>
            <a:off x="9226296" y="1874520"/>
            <a:ext cx="2606040" cy="4160520"/>
          </a:xfrm>
          <a:prstGeom prst="roundRect">
            <a:avLst>
              <a:gd name="adj" fmla="val 3509"/>
            </a:avLst>
          </a:prstGeom>
          <a:solidFill>
            <a:srgbClr val="FFFFFF"/>
          </a:solidFill>
          <a:ln w="12700">
            <a:solidFill>
              <a:srgbClr val="E2E8F1"/>
            </a:solidFill>
            <a:prstDash val="solid"/>
          </a:ln>
          <a:effectLst>
            <a:outerShdw blurRad="101600" dist="38100" dir="5400000" algn="bl" rotWithShape="0">
              <a:srgbClr val="0A1628">
                <a:alpha val="18000"/>
              </a:srgbClr>
            </a:outerShdw>
          </a:effectLst>
        </p:spPr>
        <p:txBody>
          <a:bodyPr/>
          <a:lstStyle/>
          <a:p>
            <a:endParaRPr lang="en-US"/>
          </a:p>
        </p:txBody>
      </p:sp>
      <p:sp>
        <p:nvSpPr>
          <p:cNvPr id="20" name="Shape 15"/>
          <p:cNvSpPr/>
          <p:nvPr/>
        </p:nvSpPr>
        <p:spPr>
          <a:xfrm>
            <a:off x="9500616" y="2194560"/>
            <a:ext cx="640080" cy="640080"/>
          </a:xfrm>
          <a:prstGeom prst="ellipse">
            <a:avLst/>
          </a:prstGeom>
          <a:solidFill>
            <a:srgbClr val="0A1628"/>
          </a:solidFill>
          <a:ln/>
        </p:spPr>
        <p:txBody>
          <a:bodyPr/>
          <a:lstStyle/>
          <a:p>
            <a:endParaRPr lang="en-US"/>
          </a:p>
        </p:txBody>
      </p:sp>
      <p:pic>
        <p:nvPicPr>
          <p:cNvPr id="21" name="Image 3" descr="/home/claude/pptx_build/icons/alert.png"/>
          <p:cNvPicPr>
            <a:picLocks noChangeAspect="1"/>
          </p:cNvPicPr>
          <p:nvPr/>
        </p:nvPicPr>
        <p:blipFill>
          <a:blip r:embed="rId6"/>
          <a:stretch>
            <a:fillRect/>
          </a:stretch>
        </p:blipFill>
        <p:spPr>
          <a:xfrm>
            <a:off x="9654235" y="2348179"/>
            <a:ext cx="332842" cy="332842"/>
          </a:xfrm>
          <a:prstGeom prst="rect">
            <a:avLst/>
          </a:prstGeom>
        </p:spPr>
      </p:pic>
      <p:sp>
        <p:nvSpPr>
          <p:cNvPr id="22" name="Text 16"/>
          <p:cNvSpPr/>
          <p:nvPr/>
        </p:nvSpPr>
        <p:spPr>
          <a:xfrm>
            <a:off x="9482328" y="3063240"/>
            <a:ext cx="2103120" cy="685800"/>
          </a:xfrm>
          <a:prstGeom prst="rect">
            <a:avLst/>
          </a:prstGeom>
          <a:noFill/>
          <a:ln/>
        </p:spPr>
        <p:txBody>
          <a:bodyPr wrap="square"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No Automated Response</a:t>
            </a:r>
            <a:endParaRPr lang="en-US" sz="1400" dirty="0"/>
          </a:p>
        </p:txBody>
      </p:sp>
      <p:sp>
        <p:nvSpPr>
          <p:cNvPr id="23" name="Text 17"/>
          <p:cNvSpPr/>
          <p:nvPr/>
        </p:nvSpPr>
        <p:spPr>
          <a:xfrm>
            <a:off x="9482328" y="3749040"/>
            <a:ext cx="2103120" cy="2103120"/>
          </a:xfrm>
          <a:prstGeom prst="rect">
            <a:avLst/>
          </a:prstGeom>
          <a:noFill/>
          <a:ln/>
        </p:spPr>
        <p:txBody>
          <a:bodyPr wrap="square" rtlCol="0" anchor="t"/>
          <a:lstStyle/>
          <a:p>
            <a:pPr marL="0" indent="0">
              <a:buNone/>
            </a:pPr>
            <a:r>
              <a:rPr lang="en-US" sz="1150" dirty="0">
                <a:solidFill>
                  <a:srgbClr val="5C6B82"/>
                </a:solidFill>
                <a:latin typeface="Calibri" pitchFamily="34" charset="0"/>
                <a:ea typeface="Calibri" pitchFamily="34" charset="-122"/>
                <a:cs typeface="Calibri" pitchFamily="34" charset="-120"/>
              </a:rPr>
              <a:t>The assistant advises only — it cannot trigger containment or remediation.</a:t>
            </a:r>
            <a:endParaRPr lang="en-US" sz="1150" dirty="0"/>
          </a:p>
        </p:txBody>
      </p:sp>
      <p:sp>
        <p:nvSpPr>
          <p:cNvPr id="24" name="Text 18"/>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CA0BC"/>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TESTING &amp; VALIDATION</a:t>
            </a:r>
            <a:endParaRPr lang="en-US" sz="1200" dirty="0"/>
          </a:p>
        </p:txBody>
      </p:sp>
      <p:sp>
        <p:nvSpPr>
          <p:cNvPr id="3" name="Text 1"/>
          <p:cNvSpPr/>
          <p:nvPr/>
        </p:nvSpPr>
        <p:spPr>
          <a:xfrm>
            <a:off x="640080" y="822960"/>
            <a:ext cx="9144000" cy="640080"/>
          </a:xfrm>
          <a:prstGeom prst="rect">
            <a:avLst/>
          </a:prstGeom>
          <a:noFill/>
          <a:ln/>
        </p:spPr>
        <p:txBody>
          <a:bodyPr wrap="square"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Validated with Atomic Red Team, end to end</a:t>
            </a:r>
            <a:endParaRPr lang="en-US" sz="2600" dirty="0"/>
          </a:p>
        </p:txBody>
      </p:sp>
      <p:sp>
        <p:nvSpPr>
          <p:cNvPr id="4" name="Shape 2"/>
          <p:cNvSpPr/>
          <p:nvPr/>
        </p:nvSpPr>
        <p:spPr>
          <a:xfrm>
            <a:off x="640080" y="1783080"/>
            <a:ext cx="2514600" cy="2103120"/>
          </a:xfrm>
          <a:prstGeom prst="roundRect">
            <a:avLst>
              <a:gd name="adj" fmla="val 4348"/>
            </a:avLst>
          </a:prstGeom>
          <a:solidFill>
            <a:srgbClr val="0A1628"/>
          </a:solidFill>
          <a:ln/>
          <a:effectLst>
            <a:outerShdw blurRad="101600" dist="38100" dir="5400000" algn="bl" rotWithShape="0">
              <a:srgbClr val="0A1628">
                <a:alpha val="18000"/>
              </a:srgbClr>
            </a:outerShdw>
          </a:effectLst>
        </p:spPr>
        <p:txBody>
          <a:bodyPr/>
          <a:lstStyle/>
          <a:p>
            <a:endParaRPr lang="en-US"/>
          </a:p>
        </p:txBody>
      </p:sp>
      <p:sp>
        <p:nvSpPr>
          <p:cNvPr id="5" name="Text 3"/>
          <p:cNvSpPr/>
          <p:nvPr/>
        </p:nvSpPr>
        <p:spPr>
          <a:xfrm>
            <a:off x="822960" y="1920240"/>
            <a:ext cx="548640" cy="457200"/>
          </a:xfrm>
          <a:prstGeom prst="rect">
            <a:avLst/>
          </a:prstGeom>
          <a:noFill/>
          <a:ln/>
        </p:spPr>
        <p:txBody>
          <a:bodyPr wrap="square" rtlCol="0" anchor="ctr"/>
          <a:lstStyle/>
          <a:p>
            <a:pPr marL="0" indent="0">
              <a:buNone/>
            </a:pPr>
            <a:r>
              <a:rPr lang="en-US" sz="2200" b="1" dirty="0">
                <a:solidFill>
                  <a:srgbClr val="00C2D1"/>
                </a:solidFill>
                <a:latin typeface="Calibri" pitchFamily="34" charset="0"/>
                <a:ea typeface="Calibri" pitchFamily="34" charset="-122"/>
                <a:cs typeface="Calibri" pitchFamily="34" charset="-120"/>
              </a:rPr>
              <a:t>1</a:t>
            </a:r>
            <a:endParaRPr lang="en-US" sz="2200" dirty="0"/>
          </a:p>
        </p:txBody>
      </p:sp>
      <p:sp>
        <p:nvSpPr>
          <p:cNvPr id="6" name="Shape 4"/>
          <p:cNvSpPr/>
          <p:nvPr/>
        </p:nvSpPr>
        <p:spPr>
          <a:xfrm>
            <a:off x="2468880" y="1947672"/>
            <a:ext cx="502920" cy="502920"/>
          </a:xfrm>
          <a:prstGeom prst="ellipse">
            <a:avLst/>
          </a:prstGeom>
          <a:solidFill>
            <a:srgbClr val="1E3A5F"/>
          </a:solidFill>
          <a:ln/>
        </p:spPr>
        <p:txBody>
          <a:bodyPr/>
          <a:lstStyle/>
          <a:p>
            <a:endParaRPr lang="en-US"/>
          </a:p>
        </p:txBody>
      </p:sp>
      <p:pic>
        <p:nvPicPr>
          <p:cNvPr id="7" name="Image 0" descr="/home/claude/pptx_build/icons/terminal.png"/>
          <p:cNvPicPr>
            <a:picLocks noChangeAspect="1"/>
          </p:cNvPicPr>
          <p:nvPr/>
        </p:nvPicPr>
        <p:blipFill>
          <a:blip r:embed="rId3"/>
          <a:stretch>
            <a:fillRect/>
          </a:stretch>
        </p:blipFill>
        <p:spPr>
          <a:xfrm>
            <a:off x="2594610" y="2073402"/>
            <a:ext cx="251460" cy="251460"/>
          </a:xfrm>
          <a:prstGeom prst="rect">
            <a:avLst/>
          </a:prstGeom>
        </p:spPr>
      </p:pic>
      <p:sp>
        <p:nvSpPr>
          <p:cNvPr id="8" name="Text 5"/>
          <p:cNvSpPr/>
          <p:nvPr/>
        </p:nvSpPr>
        <p:spPr>
          <a:xfrm>
            <a:off x="822960" y="2468880"/>
            <a:ext cx="21488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Simulate</a:t>
            </a:r>
            <a:endParaRPr lang="en-US" sz="1500" dirty="0"/>
          </a:p>
        </p:txBody>
      </p:sp>
      <p:sp>
        <p:nvSpPr>
          <p:cNvPr id="9" name="Text 6"/>
          <p:cNvSpPr/>
          <p:nvPr/>
        </p:nvSpPr>
        <p:spPr>
          <a:xfrm>
            <a:off x="822960" y="2834640"/>
            <a:ext cx="2148840" cy="1005840"/>
          </a:xfrm>
          <a:prstGeom prst="rect">
            <a:avLst/>
          </a:prstGeom>
          <a:noFill/>
          <a:ln/>
        </p:spPr>
        <p:txBody>
          <a:bodyPr wrap="square" rtlCol="0" anchor="t"/>
          <a:lstStyle/>
          <a:p>
            <a:pPr marL="0" indent="0">
              <a:buNone/>
            </a:pPr>
            <a:r>
              <a:rPr lang="en-US" sz="1050" dirty="0">
                <a:solidFill>
                  <a:srgbClr val="8CA0BC"/>
                </a:solidFill>
                <a:latin typeface="Calibri" pitchFamily="34" charset="0"/>
                <a:ea typeface="Calibri" pitchFamily="34" charset="-122"/>
                <a:cs typeface="Calibri" pitchFamily="34" charset="-120"/>
              </a:rPr>
              <a:t>Atomic Red Team executes real attacker techniques on the Windows endpoint.</a:t>
            </a:r>
            <a:endParaRPr lang="en-US" sz="1050" dirty="0"/>
          </a:p>
        </p:txBody>
      </p:sp>
      <p:sp>
        <p:nvSpPr>
          <p:cNvPr id="10" name="Text 7"/>
          <p:cNvSpPr/>
          <p:nvPr/>
        </p:nvSpPr>
        <p:spPr>
          <a:xfrm>
            <a:off x="3154680" y="2560320"/>
            <a:ext cx="256032" cy="457200"/>
          </a:xfrm>
          <a:prstGeom prst="rect">
            <a:avLst/>
          </a:prstGeom>
          <a:noFill/>
          <a:ln/>
        </p:spPr>
        <p:txBody>
          <a:bodyPr wrap="square" rtlCol="0" anchor="ctr"/>
          <a:lstStyle/>
          <a:p>
            <a:pPr marL="0" indent="0" algn="ctr">
              <a:buNone/>
            </a:pPr>
            <a:r>
              <a:rPr lang="en-US" sz="2000" b="1" dirty="0">
                <a:solidFill>
                  <a:srgbClr val="8CA0BC"/>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3410712" y="1783080"/>
            <a:ext cx="2514600" cy="2103120"/>
          </a:xfrm>
          <a:prstGeom prst="roundRect">
            <a:avLst>
              <a:gd name="adj" fmla="val 4348"/>
            </a:avLst>
          </a:prstGeom>
          <a:solidFill>
            <a:srgbClr val="0A1628"/>
          </a:solidFill>
          <a:ln/>
          <a:effectLst>
            <a:outerShdw blurRad="101600" dist="38100" dir="5400000" algn="bl" rotWithShape="0">
              <a:srgbClr val="0A1628">
                <a:alpha val="18000"/>
              </a:srgbClr>
            </a:outerShdw>
          </a:effectLst>
        </p:spPr>
        <p:txBody>
          <a:bodyPr/>
          <a:lstStyle/>
          <a:p>
            <a:endParaRPr lang="en-US"/>
          </a:p>
        </p:txBody>
      </p:sp>
      <p:sp>
        <p:nvSpPr>
          <p:cNvPr id="12" name="Text 9"/>
          <p:cNvSpPr/>
          <p:nvPr/>
        </p:nvSpPr>
        <p:spPr>
          <a:xfrm>
            <a:off x="3593592" y="1920240"/>
            <a:ext cx="548640" cy="457200"/>
          </a:xfrm>
          <a:prstGeom prst="rect">
            <a:avLst/>
          </a:prstGeom>
          <a:noFill/>
          <a:ln/>
        </p:spPr>
        <p:txBody>
          <a:bodyPr wrap="square" rtlCol="0" anchor="ctr"/>
          <a:lstStyle/>
          <a:p>
            <a:pPr marL="0" indent="0">
              <a:buNone/>
            </a:pPr>
            <a:r>
              <a:rPr lang="en-US" sz="2200" b="1" dirty="0">
                <a:solidFill>
                  <a:srgbClr val="00C2D1"/>
                </a:solidFill>
                <a:latin typeface="Calibri" pitchFamily="34" charset="0"/>
                <a:ea typeface="Calibri" pitchFamily="34" charset="-122"/>
                <a:cs typeface="Calibri" pitchFamily="34" charset="-120"/>
              </a:rPr>
              <a:t>2</a:t>
            </a:r>
            <a:endParaRPr lang="en-US" sz="2200" dirty="0"/>
          </a:p>
        </p:txBody>
      </p:sp>
      <p:sp>
        <p:nvSpPr>
          <p:cNvPr id="13" name="Shape 10"/>
          <p:cNvSpPr/>
          <p:nvPr/>
        </p:nvSpPr>
        <p:spPr>
          <a:xfrm>
            <a:off x="5239512" y="1947672"/>
            <a:ext cx="502920" cy="502920"/>
          </a:xfrm>
          <a:prstGeom prst="ellipse">
            <a:avLst/>
          </a:prstGeom>
          <a:solidFill>
            <a:srgbClr val="1E3A5F"/>
          </a:solidFill>
          <a:ln/>
        </p:spPr>
        <p:txBody>
          <a:bodyPr/>
          <a:lstStyle/>
          <a:p>
            <a:endParaRPr lang="en-US"/>
          </a:p>
        </p:txBody>
      </p:sp>
      <p:pic>
        <p:nvPicPr>
          <p:cNvPr id="14" name="Image 1" descr="/home/claude/pptx_build/icons/activity.png"/>
          <p:cNvPicPr>
            <a:picLocks noChangeAspect="1"/>
          </p:cNvPicPr>
          <p:nvPr/>
        </p:nvPicPr>
        <p:blipFill>
          <a:blip r:embed="rId4"/>
          <a:stretch>
            <a:fillRect/>
          </a:stretch>
        </p:blipFill>
        <p:spPr>
          <a:xfrm>
            <a:off x="5365242" y="2073402"/>
            <a:ext cx="251460" cy="251460"/>
          </a:xfrm>
          <a:prstGeom prst="rect">
            <a:avLst/>
          </a:prstGeom>
        </p:spPr>
      </p:pic>
      <p:sp>
        <p:nvSpPr>
          <p:cNvPr id="15" name="Text 11"/>
          <p:cNvSpPr/>
          <p:nvPr/>
        </p:nvSpPr>
        <p:spPr>
          <a:xfrm>
            <a:off x="3593592" y="2468880"/>
            <a:ext cx="21488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Collect</a:t>
            </a:r>
            <a:endParaRPr lang="en-US" sz="1500" dirty="0"/>
          </a:p>
        </p:txBody>
      </p:sp>
      <p:sp>
        <p:nvSpPr>
          <p:cNvPr id="16" name="Text 12"/>
          <p:cNvSpPr/>
          <p:nvPr/>
        </p:nvSpPr>
        <p:spPr>
          <a:xfrm>
            <a:off x="3593592" y="2834640"/>
            <a:ext cx="2148840" cy="1005840"/>
          </a:xfrm>
          <a:prstGeom prst="rect">
            <a:avLst/>
          </a:prstGeom>
          <a:noFill/>
          <a:ln/>
        </p:spPr>
        <p:txBody>
          <a:bodyPr wrap="square" rtlCol="0" anchor="t"/>
          <a:lstStyle/>
          <a:p>
            <a:pPr marL="0" indent="0">
              <a:buNone/>
            </a:pPr>
            <a:r>
              <a:rPr lang="en-US" sz="1050" dirty="0">
                <a:solidFill>
                  <a:srgbClr val="8CA0BC"/>
                </a:solidFill>
                <a:latin typeface="Calibri" pitchFamily="34" charset="0"/>
                <a:ea typeface="Calibri" pitchFamily="34" charset="-122"/>
                <a:cs typeface="Calibri" pitchFamily="34" charset="-120"/>
              </a:rPr>
              <a:t>Sysmon + Wazuh Agent capture the resulting telemetry.</a:t>
            </a:r>
            <a:endParaRPr lang="en-US" sz="1050" dirty="0"/>
          </a:p>
        </p:txBody>
      </p:sp>
      <p:sp>
        <p:nvSpPr>
          <p:cNvPr id="17" name="Text 13"/>
          <p:cNvSpPr/>
          <p:nvPr/>
        </p:nvSpPr>
        <p:spPr>
          <a:xfrm>
            <a:off x="5925312" y="2560320"/>
            <a:ext cx="256032" cy="457200"/>
          </a:xfrm>
          <a:prstGeom prst="rect">
            <a:avLst/>
          </a:prstGeom>
          <a:noFill/>
          <a:ln/>
        </p:spPr>
        <p:txBody>
          <a:bodyPr wrap="square" rtlCol="0" anchor="ctr"/>
          <a:lstStyle/>
          <a:p>
            <a:pPr marL="0" indent="0" algn="ctr">
              <a:buNone/>
            </a:pPr>
            <a:r>
              <a:rPr lang="en-US" sz="2000" b="1" dirty="0">
                <a:solidFill>
                  <a:srgbClr val="8CA0BC"/>
                </a:solidFill>
                <a:latin typeface="Calibri" pitchFamily="34" charset="0"/>
                <a:ea typeface="Calibri" pitchFamily="34" charset="-122"/>
                <a:cs typeface="Calibri" pitchFamily="34" charset="-120"/>
              </a:rPr>
              <a:t>→</a:t>
            </a:r>
            <a:endParaRPr lang="en-US" sz="2000" dirty="0"/>
          </a:p>
        </p:txBody>
      </p:sp>
      <p:sp>
        <p:nvSpPr>
          <p:cNvPr id="18" name="Shape 14"/>
          <p:cNvSpPr/>
          <p:nvPr/>
        </p:nvSpPr>
        <p:spPr>
          <a:xfrm>
            <a:off x="6181344" y="1783080"/>
            <a:ext cx="2514600" cy="2103120"/>
          </a:xfrm>
          <a:prstGeom prst="roundRect">
            <a:avLst>
              <a:gd name="adj" fmla="val 4348"/>
            </a:avLst>
          </a:prstGeom>
          <a:solidFill>
            <a:srgbClr val="0A1628"/>
          </a:solidFill>
          <a:ln/>
          <a:effectLst>
            <a:outerShdw blurRad="101600" dist="38100" dir="5400000" algn="bl" rotWithShape="0">
              <a:srgbClr val="0A1628">
                <a:alpha val="18000"/>
              </a:srgbClr>
            </a:outerShdw>
          </a:effectLst>
        </p:spPr>
        <p:txBody>
          <a:bodyPr/>
          <a:lstStyle/>
          <a:p>
            <a:endParaRPr lang="en-US"/>
          </a:p>
        </p:txBody>
      </p:sp>
      <p:sp>
        <p:nvSpPr>
          <p:cNvPr id="19" name="Text 15"/>
          <p:cNvSpPr/>
          <p:nvPr/>
        </p:nvSpPr>
        <p:spPr>
          <a:xfrm>
            <a:off x="6364224" y="1920240"/>
            <a:ext cx="548640" cy="457200"/>
          </a:xfrm>
          <a:prstGeom prst="rect">
            <a:avLst/>
          </a:prstGeom>
          <a:noFill/>
          <a:ln/>
        </p:spPr>
        <p:txBody>
          <a:bodyPr wrap="square" rtlCol="0" anchor="ctr"/>
          <a:lstStyle/>
          <a:p>
            <a:pPr marL="0" indent="0">
              <a:buNone/>
            </a:pPr>
            <a:r>
              <a:rPr lang="en-US" sz="2200" b="1" dirty="0">
                <a:solidFill>
                  <a:srgbClr val="00C2D1"/>
                </a:solidFill>
                <a:latin typeface="Calibri" pitchFamily="34" charset="0"/>
                <a:ea typeface="Calibri" pitchFamily="34" charset="-122"/>
                <a:cs typeface="Calibri" pitchFamily="34" charset="-120"/>
              </a:rPr>
              <a:t>3</a:t>
            </a:r>
            <a:endParaRPr lang="en-US" sz="2200" dirty="0"/>
          </a:p>
        </p:txBody>
      </p:sp>
      <p:sp>
        <p:nvSpPr>
          <p:cNvPr id="20" name="Shape 16"/>
          <p:cNvSpPr/>
          <p:nvPr/>
        </p:nvSpPr>
        <p:spPr>
          <a:xfrm>
            <a:off x="8010144" y="1947672"/>
            <a:ext cx="502920" cy="502920"/>
          </a:xfrm>
          <a:prstGeom prst="ellipse">
            <a:avLst/>
          </a:prstGeom>
          <a:solidFill>
            <a:srgbClr val="1E3A5F"/>
          </a:solidFill>
          <a:ln/>
        </p:spPr>
        <p:txBody>
          <a:bodyPr/>
          <a:lstStyle/>
          <a:p>
            <a:endParaRPr lang="en-US"/>
          </a:p>
        </p:txBody>
      </p:sp>
      <p:pic>
        <p:nvPicPr>
          <p:cNvPr id="21" name="Image 2" descr="/home/claude/pptx_build/icons/target.png"/>
          <p:cNvPicPr>
            <a:picLocks noChangeAspect="1"/>
          </p:cNvPicPr>
          <p:nvPr/>
        </p:nvPicPr>
        <p:blipFill>
          <a:blip r:embed="rId5"/>
          <a:stretch>
            <a:fillRect/>
          </a:stretch>
        </p:blipFill>
        <p:spPr>
          <a:xfrm>
            <a:off x="8135874" y="2073402"/>
            <a:ext cx="251460" cy="251460"/>
          </a:xfrm>
          <a:prstGeom prst="rect">
            <a:avLst/>
          </a:prstGeom>
        </p:spPr>
      </p:pic>
      <p:sp>
        <p:nvSpPr>
          <p:cNvPr id="22" name="Text 17"/>
          <p:cNvSpPr/>
          <p:nvPr/>
        </p:nvSpPr>
        <p:spPr>
          <a:xfrm>
            <a:off x="6364224" y="2468880"/>
            <a:ext cx="21488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Detect</a:t>
            </a:r>
            <a:endParaRPr lang="en-US" sz="1500" dirty="0"/>
          </a:p>
        </p:txBody>
      </p:sp>
      <p:sp>
        <p:nvSpPr>
          <p:cNvPr id="23" name="Text 18"/>
          <p:cNvSpPr/>
          <p:nvPr/>
        </p:nvSpPr>
        <p:spPr>
          <a:xfrm>
            <a:off x="6364224" y="2834640"/>
            <a:ext cx="2148840" cy="1005840"/>
          </a:xfrm>
          <a:prstGeom prst="rect">
            <a:avLst/>
          </a:prstGeom>
          <a:noFill/>
          <a:ln/>
        </p:spPr>
        <p:txBody>
          <a:bodyPr wrap="square" rtlCol="0" anchor="t"/>
          <a:lstStyle/>
          <a:p>
            <a:pPr marL="0" indent="0">
              <a:buNone/>
            </a:pPr>
            <a:r>
              <a:rPr lang="en-US" sz="1050" dirty="0">
                <a:solidFill>
                  <a:srgbClr val="8CA0BC"/>
                </a:solidFill>
                <a:latin typeface="Calibri" pitchFamily="34" charset="0"/>
                <a:ea typeface="Calibri" pitchFamily="34" charset="-122"/>
                <a:cs typeface="Calibri" pitchFamily="34" charset="-120"/>
              </a:rPr>
              <a:t>Custom rules evaluate events and fire the mapped alert.</a:t>
            </a:r>
            <a:endParaRPr lang="en-US" sz="1050" dirty="0"/>
          </a:p>
        </p:txBody>
      </p:sp>
      <p:sp>
        <p:nvSpPr>
          <p:cNvPr id="24" name="Text 19"/>
          <p:cNvSpPr/>
          <p:nvPr/>
        </p:nvSpPr>
        <p:spPr>
          <a:xfrm>
            <a:off x="8695944" y="2560320"/>
            <a:ext cx="256032" cy="457200"/>
          </a:xfrm>
          <a:prstGeom prst="rect">
            <a:avLst/>
          </a:prstGeom>
          <a:noFill/>
          <a:ln/>
        </p:spPr>
        <p:txBody>
          <a:bodyPr wrap="square" rtlCol="0" anchor="ctr"/>
          <a:lstStyle/>
          <a:p>
            <a:pPr marL="0" indent="0" algn="ctr">
              <a:buNone/>
            </a:pPr>
            <a:r>
              <a:rPr lang="en-US" sz="2000" b="1" dirty="0">
                <a:solidFill>
                  <a:srgbClr val="8CA0BC"/>
                </a:solidFill>
                <a:latin typeface="Calibri" pitchFamily="34" charset="0"/>
                <a:ea typeface="Calibri" pitchFamily="34" charset="-122"/>
                <a:cs typeface="Calibri" pitchFamily="34" charset="-120"/>
              </a:rPr>
              <a:t>→</a:t>
            </a:r>
            <a:endParaRPr lang="en-US" sz="2000" dirty="0"/>
          </a:p>
        </p:txBody>
      </p:sp>
      <p:sp>
        <p:nvSpPr>
          <p:cNvPr id="25" name="Shape 20"/>
          <p:cNvSpPr/>
          <p:nvPr/>
        </p:nvSpPr>
        <p:spPr>
          <a:xfrm>
            <a:off x="8951976" y="1783080"/>
            <a:ext cx="2514600" cy="2103120"/>
          </a:xfrm>
          <a:prstGeom prst="roundRect">
            <a:avLst>
              <a:gd name="adj" fmla="val 4348"/>
            </a:avLst>
          </a:prstGeom>
          <a:solidFill>
            <a:srgbClr val="0A1628"/>
          </a:solidFill>
          <a:ln/>
          <a:effectLst>
            <a:outerShdw blurRad="101600" dist="38100" dir="5400000" algn="bl" rotWithShape="0">
              <a:srgbClr val="0A1628">
                <a:alpha val="18000"/>
              </a:srgbClr>
            </a:outerShdw>
          </a:effectLst>
        </p:spPr>
        <p:txBody>
          <a:bodyPr/>
          <a:lstStyle/>
          <a:p>
            <a:endParaRPr lang="en-US"/>
          </a:p>
        </p:txBody>
      </p:sp>
      <p:sp>
        <p:nvSpPr>
          <p:cNvPr id="26" name="Text 21"/>
          <p:cNvSpPr/>
          <p:nvPr/>
        </p:nvSpPr>
        <p:spPr>
          <a:xfrm>
            <a:off x="9134856" y="1920240"/>
            <a:ext cx="548640" cy="457200"/>
          </a:xfrm>
          <a:prstGeom prst="rect">
            <a:avLst/>
          </a:prstGeom>
          <a:noFill/>
          <a:ln/>
        </p:spPr>
        <p:txBody>
          <a:bodyPr wrap="square" rtlCol="0" anchor="ctr"/>
          <a:lstStyle/>
          <a:p>
            <a:pPr marL="0" indent="0">
              <a:buNone/>
            </a:pPr>
            <a:r>
              <a:rPr lang="en-US" sz="2200" b="1" dirty="0">
                <a:solidFill>
                  <a:srgbClr val="00C2D1"/>
                </a:solidFill>
                <a:latin typeface="Calibri" pitchFamily="34" charset="0"/>
                <a:ea typeface="Calibri" pitchFamily="34" charset="-122"/>
                <a:cs typeface="Calibri" pitchFamily="34" charset="-120"/>
              </a:rPr>
              <a:t>4</a:t>
            </a:r>
            <a:endParaRPr lang="en-US" sz="2200" dirty="0"/>
          </a:p>
        </p:txBody>
      </p:sp>
      <p:sp>
        <p:nvSpPr>
          <p:cNvPr id="27" name="Shape 22"/>
          <p:cNvSpPr/>
          <p:nvPr/>
        </p:nvSpPr>
        <p:spPr>
          <a:xfrm>
            <a:off x="10780776" y="1947672"/>
            <a:ext cx="502920" cy="502920"/>
          </a:xfrm>
          <a:prstGeom prst="ellipse">
            <a:avLst/>
          </a:prstGeom>
          <a:solidFill>
            <a:srgbClr val="1E3A5F"/>
          </a:solidFill>
          <a:ln/>
        </p:spPr>
        <p:txBody>
          <a:bodyPr/>
          <a:lstStyle/>
          <a:p>
            <a:endParaRPr lang="en-US"/>
          </a:p>
        </p:txBody>
      </p:sp>
      <p:pic>
        <p:nvPicPr>
          <p:cNvPr id="28" name="Image 3" descr="/home/claude/pptx_build/icons/cpu.png"/>
          <p:cNvPicPr>
            <a:picLocks noChangeAspect="1"/>
          </p:cNvPicPr>
          <p:nvPr/>
        </p:nvPicPr>
        <p:blipFill>
          <a:blip r:embed="rId6"/>
          <a:stretch>
            <a:fillRect/>
          </a:stretch>
        </p:blipFill>
        <p:spPr>
          <a:xfrm>
            <a:off x="10906506" y="2073402"/>
            <a:ext cx="251460" cy="251460"/>
          </a:xfrm>
          <a:prstGeom prst="rect">
            <a:avLst/>
          </a:prstGeom>
        </p:spPr>
      </p:pic>
      <p:sp>
        <p:nvSpPr>
          <p:cNvPr id="29" name="Text 23"/>
          <p:cNvSpPr/>
          <p:nvPr/>
        </p:nvSpPr>
        <p:spPr>
          <a:xfrm>
            <a:off x="9134856" y="2468880"/>
            <a:ext cx="21488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Analyze</a:t>
            </a:r>
            <a:endParaRPr lang="en-US" sz="1500" dirty="0"/>
          </a:p>
        </p:txBody>
      </p:sp>
      <p:sp>
        <p:nvSpPr>
          <p:cNvPr id="30" name="Text 24"/>
          <p:cNvSpPr/>
          <p:nvPr/>
        </p:nvSpPr>
        <p:spPr>
          <a:xfrm>
            <a:off x="9134856" y="2834640"/>
            <a:ext cx="2148840" cy="1005840"/>
          </a:xfrm>
          <a:prstGeom prst="rect">
            <a:avLst/>
          </a:prstGeom>
          <a:noFill/>
          <a:ln/>
        </p:spPr>
        <p:txBody>
          <a:bodyPr wrap="square" rtlCol="0" anchor="t"/>
          <a:lstStyle/>
          <a:p>
            <a:pPr marL="0" indent="0">
              <a:buNone/>
            </a:pPr>
            <a:r>
              <a:rPr lang="en-US" sz="1050" dirty="0">
                <a:solidFill>
                  <a:srgbClr val="8CA0BC"/>
                </a:solidFill>
                <a:latin typeface="Calibri" pitchFamily="34" charset="0"/>
                <a:ea typeface="Calibri" pitchFamily="34" charset="-122"/>
                <a:cs typeface="Calibri" pitchFamily="34" charset="-120"/>
              </a:rPr>
              <a:t>AlertMind processes the alert and returns structured guidance.</a:t>
            </a:r>
            <a:endParaRPr lang="en-US" sz="1050" dirty="0"/>
          </a:p>
        </p:txBody>
      </p:sp>
      <p:sp>
        <p:nvSpPr>
          <p:cNvPr id="31" name="Shape 25"/>
          <p:cNvSpPr/>
          <p:nvPr/>
        </p:nvSpPr>
        <p:spPr>
          <a:xfrm>
            <a:off x="640080" y="4160520"/>
            <a:ext cx="10881360" cy="1508760"/>
          </a:xfrm>
          <a:prstGeom prst="roundRect">
            <a:avLst>
              <a:gd name="adj" fmla="val 6061"/>
            </a:avLst>
          </a:prstGeom>
          <a:solidFill>
            <a:srgbClr val="FFFFFF"/>
          </a:solidFill>
          <a:ln w="12700">
            <a:solidFill>
              <a:srgbClr val="E2E8F1"/>
            </a:solidFill>
            <a:prstDash val="solid"/>
          </a:ln>
          <a:effectLst>
            <a:outerShdw blurRad="101600" dist="38100" dir="5400000" algn="bl" rotWithShape="0">
              <a:srgbClr val="0A1628">
                <a:alpha val="18000"/>
              </a:srgbClr>
            </a:outerShdw>
          </a:effectLst>
        </p:spPr>
        <p:txBody>
          <a:bodyPr/>
          <a:lstStyle/>
          <a:p>
            <a:endParaRPr lang="en-US"/>
          </a:p>
        </p:txBody>
      </p:sp>
      <p:sp>
        <p:nvSpPr>
          <p:cNvPr id="32" name="Shape 26"/>
          <p:cNvSpPr/>
          <p:nvPr/>
        </p:nvSpPr>
        <p:spPr>
          <a:xfrm>
            <a:off x="868680" y="4389120"/>
            <a:ext cx="548640" cy="548640"/>
          </a:xfrm>
          <a:prstGeom prst="ellipse">
            <a:avLst/>
          </a:prstGeom>
          <a:solidFill>
            <a:srgbClr val="00C2D1"/>
          </a:solidFill>
          <a:ln/>
        </p:spPr>
        <p:txBody>
          <a:bodyPr/>
          <a:lstStyle/>
          <a:p>
            <a:endParaRPr lang="en-US"/>
          </a:p>
        </p:txBody>
      </p:sp>
      <p:pic>
        <p:nvPicPr>
          <p:cNvPr id="33" name="Image 4" descr="/home/claude/pptx_build/icons/checkcircle.png"/>
          <p:cNvPicPr>
            <a:picLocks noChangeAspect="1"/>
          </p:cNvPicPr>
          <p:nvPr/>
        </p:nvPicPr>
        <p:blipFill>
          <a:blip r:embed="rId7"/>
          <a:stretch>
            <a:fillRect/>
          </a:stretch>
        </p:blipFill>
        <p:spPr>
          <a:xfrm>
            <a:off x="1005840" y="4526280"/>
            <a:ext cx="274320" cy="274320"/>
          </a:xfrm>
          <a:prstGeom prst="rect">
            <a:avLst/>
          </a:prstGeom>
        </p:spPr>
      </p:pic>
      <p:sp>
        <p:nvSpPr>
          <p:cNvPr id="34" name="Text 27"/>
          <p:cNvSpPr/>
          <p:nvPr/>
        </p:nvSpPr>
        <p:spPr>
          <a:xfrm>
            <a:off x="1600200" y="4297680"/>
            <a:ext cx="9692640" cy="1188720"/>
          </a:xfrm>
          <a:prstGeom prst="rect">
            <a:avLst/>
          </a:prstGeom>
          <a:noFill/>
          <a:ln/>
        </p:spPr>
        <p:txBody>
          <a:bodyPr wrap="square" rtlCol="0" anchor="ctr"/>
          <a:lstStyle/>
          <a:p>
            <a:pPr marL="0" indent="0">
              <a:buNone/>
            </a:pPr>
            <a:r>
              <a:rPr lang="en-US" sz="1400" dirty="0">
                <a:solidFill>
                  <a:srgbClr val="0A1628"/>
                </a:solidFill>
                <a:latin typeface="Calibri" pitchFamily="34" charset="0"/>
                <a:ea typeface="Calibri" pitchFamily="34" charset="-122"/>
                <a:cs typeface="Calibri" pitchFamily="34" charset="-120"/>
              </a:rPr>
              <a:t>Result: every tested technique was detected end-to-end, and for every generated alert, AlertMind consistently returned all five structured outputs — without ever modifying Wazuh's original detection.</a:t>
            </a:r>
            <a:endParaRPr lang="en-US" sz="1400" dirty="0"/>
          </a:p>
        </p:txBody>
      </p:sp>
      <p:sp>
        <p:nvSpPr>
          <p:cNvPr id="35" name="Text 28"/>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CA0B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RESULTS &amp; DISCUSSION</a:t>
            </a:r>
            <a:endParaRPr lang="en-US" sz="1200" dirty="0"/>
          </a:p>
        </p:txBody>
      </p:sp>
      <p:sp>
        <p:nvSpPr>
          <p:cNvPr id="3" name="Text 1"/>
          <p:cNvSpPr/>
          <p:nvPr/>
        </p:nvSpPr>
        <p:spPr>
          <a:xfrm>
            <a:off x="640080" y="822960"/>
            <a:ext cx="8229600" cy="640080"/>
          </a:xfrm>
          <a:prstGeom prst="rect">
            <a:avLst/>
          </a:prstGeom>
          <a:noFill/>
          <a:ln/>
        </p:spPr>
        <p:txBody>
          <a:bodyPr wrap="square" rtlCol="0" anchor="ctr"/>
          <a:lstStyle/>
          <a:p>
            <a:pPr marL="0" indent="0">
              <a:buNone/>
            </a:pPr>
            <a:r>
              <a:rPr lang="en-US" sz="2700" b="1" dirty="0">
                <a:solidFill>
                  <a:srgbClr val="0A1628"/>
                </a:solidFill>
                <a:latin typeface="Calibri" pitchFamily="34" charset="0"/>
                <a:ea typeface="Calibri" pitchFamily="34" charset="-122"/>
                <a:cs typeface="Calibri" pitchFamily="34" charset="-120"/>
              </a:rPr>
              <a:t>What worked — and what's next</a:t>
            </a:r>
            <a:endParaRPr lang="en-US" sz="2700" dirty="0"/>
          </a:p>
        </p:txBody>
      </p:sp>
      <p:sp>
        <p:nvSpPr>
          <p:cNvPr id="4" name="Shape 2"/>
          <p:cNvSpPr/>
          <p:nvPr/>
        </p:nvSpPr>
        <p:spPr>
          <a:xfrm>
            <a:off x="640080" y="1783080"/>
            <a:ext cx="5257800" cy="4160520"/>
          </a:xfrm>
          <a:prstGeom prst="roundRect">
            <a:avLst>
              <a:gd name="adj" fmla="val 2198"/>
            </a:avLst>
          </a:prstGeom>
          <a:solidFill>
            <a:srgbClr val="FFFFFF"/>
          </a:solidFill>
          <a:ln w="12700">
            <a:solidFill>
              <a:srgbClr val="E2E8F1"/>
            </a:solidFill>
            <a:prstDash val="solid"/>
          </a:ln>
          <a:effectLst>
            <a:outerShdw blurRad="101600" dist="38100" dir="5400000" algn="bl" rotWithShape="0">
              <a:srgbClr val="0A1628">
                <a:alpha val="18000"/>
              </a:srgbClr>
            </a:outerShdw>
          </a:effectLst>
        </p:spPr>
        <p:txBody>
          <a:bodyPr/>
          <a:lstStyle/>
          <a:p>
            <a:endParaRPr lang="en-US"/>
          </a:p>
        </p:txBody>
      </p:sp>
      <p:sp>
        <p:nvSpPr>
          <p:cNvPr id="5" name="Shape 3"/>
          <p:cNvSpPr/>
          <p:nvPr/>
        </p:nvSpPr>
        <p:spPr>
          <a:xfrm>
            <a:off x="914400" y="2057400"/>
            <a:ext cx="548640" cy="548640"/>
          </a:xfrm>
          <a:prstGeom prst="ellipse">
            <a:avLst/>
          </a:prstGeom>
          <a:solidFill>
            <a:srgbClr val="0A1628"/>
          </a:solidFill>
          <a:ln/>
        </p:spPr>
        <p:txBody>
          <a:bodyPr/>
          <a:lstStyle/>
          <a:p>
            <a:endParaRPr lang="en-US"/>
          </a:p>
        </p:txBody>
      </p:sp>
      <p:pic>
        <p:nvPicPr>
          <p:cNvPr id="6" name="Image 0" descr="/home/claude/pptx_build/icons/checkcircle.png"/>
          <p:cNvPicPr>
            <a:picLocks noChangeAspect="1"/>
          </p:cNvPicPr>
          <p:nvPr/>
        </p:nvPicPr>
        <p:blipFill>
          <a:blip r:embed="rId3"/>
          <a:stretch>
            <a:fillRect/>
          </a:stretch>
        </p:blipFill>
        <p:spPr>
          <a:xfrm>
            <a:off x="1051560" y="2194560"/>
            <a:ext cx="274320" cy="274320"/>
          </a:xfrm>
          <a:prstGeom prst="rect">
            <a:avLst/>
          </a:prstGeom>
        </p:spPr>
      </p:pic>
      <p:sp>
        <p:nvSpPr>
          <p:cNvPr id="7" name="Text 4"/>
          <p:cNvSpPr/>
          <p:nvPr/>
        </p:nvSpPr>
        <p:spPr>
          <a:xfrm>
            <a:off x="1600200" y="2130552"/>
            <a:ext cx="3657600" cy="365760"/>
          </a:xfrm>
          <a:prstGeom prst="rect">
            <a:avLst/>
          </a:prstGeom>
          <a:noFill/>
          <a:ln/>
        </p:spPr>
        <p:txBody>
          <a:bodyPr wrap="square" rtlCol="0" anchor="ctr"/>
          <a:lstStyle/>
          <a:p>
            <a:pPr marL="0" indent="0">
              <a:buNone/>
            </a:pPr>
            <a:r>
              <a:rPr lang="en-US" sz="1600" b="1" dirty="0">
                <a:solidFill>
                  <a:srgbClr val="0A1628"/>
                </a:solidFill>
                <a:latin typeface="Calibri" pitchFamily="34" charset="0"/>
                <a:ea typeface="Calibri" pitchFamily="34" charset="-122"/>
                <a:cs typeface="Calibri" pitchFamily="34" charset="-120"/>
              </a:rPr>
              <a:t>Key Results</a:t>
            </a:r>
            <a:endParaRPr lang="en-US" sz="1600" dirty="0"/>
          </a:p>
        </p:txBody>
      </p:sp>
      <p:sp>
        <p:nvSpPr>
          <p:cNvPr id="8" name="Shape 5"/>
          <p:cNvSpPr/>
          <p:nvPr/>
        </p:nvSpPr>
        <p:spPr>
          <a:xfrm>
            <a:off x="914400" y="2834640"/>
            <a:ext cx="82296" cy="82296"/>
          </a:xfrm>
          <a:prstGeom prst="ellipse">
            <a:avLst/>
          </a:prstGeom>
          <a:solidFill>
            <a:srgbClr val="00C2D1"/>
          </a:solidFill>
          <a:ln/>
        </p:spPr>
        <p:txBody>
          <a:bodyPr/>
          <a:lstStyle/>
          <a:p>
            <a:endParaRPr lang="en-US"/>
          </a:p>
        </p:txBody>
      </p:sp>
      <p:sp>
        <p:nvSpPr>
          <p:cNvPr id="9" name="Text 6"/>
          <p:cNvSpPr/>
          <p:nvPr/>
        </p:nvSpPr>
        <p:spPr>
          <a:xfrm>
            <a:off x="1143000" y="2697480"/>
            <a:ext cx="4617720" cy="685800"/>
          </a:xfrm>
          <a:prstGeom prst="rect">
            <a:avLst/>
          </a:prstGeom>
          <a:noFill/>
          <a:ln/>
        </p:spPr>
        <p:txBody>
          <a:bodyPr wrap="square" rtlCol="0" anchor="t"/>
          <a:lstStyle/>
          <a:p>
            <a:pPr marL="0" indent="0">
              <a:buNone/>
            </a:pPr>
            <a:r>
              <a:rPr lang="en-US" sz="1250" dirty="0">
                <a:solidFill>
                  <a:srgbClr val="5C6B82"/>
                </a:solidFill>
                <a:latin typeface="Calibri" pitchFamily="34" charset="0"/>
                <a:ea typeface="Calibri" pitchFamily="34" charset="-122"/>
                <a:cs typeface="Calibri" pitchFamily="34" charset="-120"/>
              </a:rPr>
              <a:t>Centralized log collection across Windows, Linux &amp; AWS CloudTrail</a:t>
            </a:r>
            <a:endParaRPr lang="en-US" sz="1250" dirty="0"/>
          </a:p>
        </p:txBody>
      </p:sp>
      <p:sp>
        <p:nvSpPr>
          <p:cNvPr id="10" name="Shape 7"/>
          <p:cNvSpPr/>
          <p:nvPr/>
        </p:nvSpPr>
        <p:spPr>
          <a:xfrm>
            <a:off x="914400" y="3584448"/>
            <a:ext cx="82296" cy="82296"/>
          </a:xfrm>
          <a:prstGeom prst="ellipse">
            <a:avLst/>
          </a:prstGeom>
          <a:solidFill>
            <a:srgbClr val="00C2D1"/>
          </a:solidFill>
          <a:ln/>
        </p:spPr>
        <p:txBody>
          <a:bodyPr/>
          <a:lstStyle/>
          <a:p>
            <a:endParaRPr lang="en-US"/>
          </a:p>
        </p:txBody>
      </p:sp>
      <p:sp>
        <p:nvSpPr>
          <p:cNvPr id="11" name="Text 8"/>
          <p:cNvSpPr/>
          <p:nvPr/>
        </p:nvSpPr>
        <p:spPr>
          <a:xfrm>
            <a:off x="1143000" y="3447288"/>
            <a:ext cx="4617720" cy="685800"/>
          </a:xfrm>
          <a:prstGeom prst="rect">
            <a:avLst/>
          </a:prstGeom>
          <a:noFill/>
          <a:ln/>
        </p:spPr>
        <p:txBody>
          <a:bodyPr wrap="square" rtlCol="0" anchor="t"/>
          <a:lstStyle/>
          <a:p>
            <a:pPr marL="0" indent="0">
              <a:buNone/>
            </a:pPr>
            <a:r>
              <a:rPr lang="en-US" sz="1250" dirty="0">
                <a:solidFill>
                  <a:srgbClr val="5C6B82"/>
                </a:solidFill>
                <a:latin typeface="Calibri" pitchFamily="34" charset="0"/>
                <a:ea typeface="Calibri" pitchFamily="34" charset="-122"/>
                <a:cs typeface="Calibri" pitchFamily="34" charset="-120"/>
              </a:rPr>
              <a:t>All custom rules fired correctly against simulated attacks</a:t>
            </a:r>
            <a:endParaRPr lang="en-US" sz="1250" dirty="0"/>
          </a:p>
        </p:txBody>
      </p:sp>
      <p:sp>
        <p:nvSpPr>
          <p:cNvPr id="12" name="Shape 9"/>
          <p:cNvSpPr/>
          <p:nvPr/>
        </p:nvSpPr>
        <p:spPr>
          <a:xfrm>
            <a:off x="914400" y="4334256"/>
            <a:ext cx="82296" cy="82296"/>
          </a:xfrm>
          <a:prstGeom prst="ellipse">
            <a:avLst/>
          </a:prstGeom>
          <a:solidFill>
            <a:srgbClr val="00C2D1"/>
          </a:solidFill>
          <a:ln/>
        </p:spPr>
        <p:txBody>
          <a:bodyPr/>
          <a:lstStyle/>
          <a:p>
            <a:endParaRPr lang="en-US"/>
          </a:p>
        </p:txBody>
      </p:sp>
      <p:sp>
        <p:nvSpPr>
          <p:cNvPr id="13" name="Text 10"/>
          <p:cNvSpPr/>
          <p:nvPr/>
        </p:nvSpPr>
        <p:spPr>
          <a:xfrm>
            <a:off x="1143000" y="4197096"/>
            <a:ext cx="4617720" cy="685800"/>
          </a:xfrm>
          <a:prstGeom prst="rect">
            <a:avLst/>
          </a:prstGeom>
          <a:noFill/>
          <a:ln/>
        </p:spPr>
        <p:txBody>
          <a:bodyPr wrap="square" rtlCol="0" anchor="t"/>
          <a:lstStyle/>
          <a:p>
            <a:pPr marL="0" indent="0">
              <a:buNone/>
            </a:pPr>
            <a:r>
              <a:rPr lang="en-US" sz="1250" dirty="0">
                <a:solidFill>
                  <a:srgbClr val="5C6B82"/>
                </a:solidFill>
                <a:latin typeface="Calibri" pitchFamily="34" charset="0"/>
                <a:ea typeface="Calibri" pitchFamily="34" charset="-122"/>
                <a:cs typeface="Calibri" pitchFamily="34" charset="-120"/>
              </a:rPr>
              <a:t>AI assistant produced structured, consistent output every time</a:t>
            </a:r>
            <a:endParaRPr lang="en-US" sz="1250" dirty="0"/>
          </a:p>
        </p:txBody>
      </p:sp>
      <p:sp>
        <p:nvSpPr>
          <p:cNvPr id="14" name="Shape 11"/>
          <p:cNvSpPr/>
          <p:nvPr/>
        </p:nvSpPr>
        <p:spPr>
          <a:xfrm>
            <a:off x="914400" y="5084064"/>
            <a:ext cx="82296" cy="82296"/>
          </a:xfrm>
          <a:prstGeom prst="ellipse">
            <a:avLst/>
          </a:prstGeom>
          <a:solidFill>
            <a:srgbClr val="00C2D1"/>
          </a:solidFill>
          <a:ln/>
        </p:spPr>
        <p:txBody>
          <a:bodyPr/>
          <a:lstStyle/>
          <a:p>
            <a:endParaRPr lang="en-US"/>
          </a:p>
        </p:txBody>
      </p:sp>
      <p:sp>
        <p:nvSpPr>
          <p:cNvPr id="15" name="Text 12"/>
          <p:cNvSpPr/>
          <p:nvPr/>
        </p:nvSpPr>
        <p:spPr>
          <a:xfrm>
            <a:off x="1143000" y="4946904"/>
            <a:ext cx="4617720" cy="685800"/>
          </a:xfrm>
          <a:prstGeom prst="rect">
            <a:avLst/>
          </a:prstGeom>
          <a:noFill/>
          <a:ln/>
        </p:spPr>
        <p:txBody>
          <a:bodyPr wrap="square" rtlCol="0" anchor="t"/>
          <a:lstStyle/>
          <a:p>
            <a:pPr marL="0" indent="0">
              <a:buNone/>
            </a:pPr>
            <a:r>
              <a:rPr lang="en-US" sz="1250" dirty="0">
                <a:solidFill>
                  <a:srgbClr val="5C6B82"/>
                </a:solidFill>
                <a:latin typeface="Calibri" pitchFamily="34" charset="0"/>
                <a:ea typeface="Calibri" pitchFamily="34" charset="-122"/>
                <a:cs typeface="Calibri" pitchFamily="34" charset="-120"/>
              </a:rPr>
              <a:t>Detection logic and AI reasoning stayed fully decoupled</a:t>
            </a:r>
            <a:endParaRPr lang="en-US" sz="1250" dirty="0"/>
          </a:p>
        </p:txBody>
      </p:sp>
      <p:sp>
        <p:nvSpPr>
          <p:cNvPr id="16" name="Shape 13"/>
          <p:cNvSpPr/>
          <p:nvPr/>
        </p:nvSpPr>
        <p:spPr>
          <a:xfrm>
            <a:off x="6263640" y="1783080"/>
            <a:ext cx="5257800" cy="4160520"/>
          </a:xfrm>
          <a:prstGeom prst="roundRect">
            <a:avLst>
              <a:gd name="adj" fmla="val 2198"/>
            </a:avLst>
          </a:prstGeom>
          <a:solidFill>
            <a:srgbClr val="0A1628"/>
          </a:solidFill>
          <a:ln/>
          <a:effectLst>
            <a:outerShdw blurRad="101600" dist="38100" dir="5400000" algn="bl" rotWithShape="0">
              <a:srgbClr val="0A1628">
                <a:alpha val="18000"/>
              </a:srgbClr>
            </a:outerShdw>
          </a:effectLst>
        </p:spPr>
        <p:txBody>
          <a:bodyPr/>
          <a:lstStyle/>
          <a:p>
            <a:endParaRPr lang="en-US"/>
          </a:p>
        </p:txBody>
      </p:sp>
      <p:sp>
        <p:nvSpPr>
          <p:cNvPr id="17" name="Shape 14"/>
          <p:cNvSpPr/>
          <p:nvPr/>
        </p:nvSpPr>
        <p:spPr>
          <a:xfrm>
            <a:off x="6537960" y="2057400"/>
            <a:ext cx="548640" cy="548640"/>
          </a:xfrm>
          <a:prstGeom prst="ellipse">
            <a:avLst/>
          </a:prstGeom>
          <a:solidFill>
            <a:srgbClr val="00C2D1"/>
          </a:solidFill>
          <a:ln/>
        </p:spPr>
        <p:txBody>
          <a:bodyPr/>
          <a:lstStyle/>
          <a:p>
            <a:endParaRPr lang="en-US"/>
          </a:p>
        </p:txBody>
      </p:sp>
      <p:pic>
        <p:nvPicPr>
          <p:cNvPr id="18" name="Image 1" descr="/home/claude/pptx_build/icons/alert.png"/>
          <p:cNvPicPr>
            <a:picLocks noChangeAspect="1"/>
          </p:cNvPicPr>
          <p:nvPr/>
        </p:nvPicPr>
        <p:blipFill>
          <a:blip r:embed="rId4"/>
          <a:stretch>
            <a:fillRect/>
          </a:stretch>
        </p:blipFill>
        <p:spPr>
          <a:xfrm>
            <a:off x="6675120" y="2194560"/>
            <a:ext cx="274320" cy="274320"/>
          </a:xfrm>
          <a:prstGeom prst="rect">
            <a:avLst/>
          </a:prstGeom>
        </p:spPr>
      </p:pic>
      <p:sp>
        <p:nvSpPr>
          <p:cNvPr id="19" name="Text 15"/>
          <p:cNvSpPr/>
          <p:nvPr/>
        </p:nvSpPr>
        <p:spPr>
          <a:xfrm>
            <a:off x="7223760" y="2130552"/>
            <a:ext cx="36576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Known Limitations</a:t>
            </a:r>
            <a:endParaRPr lang="en-US" sz="1600" dirty="0"/>
          </a:p>
        </p:txBody>
      </p:sp>
      <p:sp>
        <p:nvSpPr>
          <p:cNvPr id="20" name="Shape 16"/>
          <p:cNvSpPr/>
          <p:nvPr/>
        </p:nvSpPr>
        <p:spPr>
          <a:xfrm>
            <a:off x="6537960" y="2834640"/>
            <a:ext cx="82296" cy="82296"/>
          </a:xfrm>
          <a:prstGeom prst="ellipse">
            <a:avLst/>
          </a:prstGeom>
          <a:solidFill>
            <a:srgbClr val="FF5C5C"/>
          </a:solidFill>
          <a:ln/>
        </p:spPr>
        <p:txBody>
          <a:bodyPr/>
          <a:lstStyle/>
          <a:p>
            <a:endParaRPr lang="en-US"/>
          </a:p>
        </p:txBody>
      </p:sp>
      <p:sp>
        <p:nvSpPr>
          <p:cNvPr id="21" name="Text 17"/>
          <p:cNvSpPr/>
          <p:nvPr/>
        </p:nvSpPr>
        <p:spPr>
          <a:xfrm>
            <a:off x="6766560" y="2697480"/>
            <a:ext cx="4617720" cy="685800"/>
          </a:xfrm>
          <a:prstGeom prst="rect">
            <a:avLst/>
          </a:prstGeom>
          <a:noFill/>
          <a:ln/>
        </p:spPr>
        <p:txBody>
          <a:bodyPr wrap="square" rtlCol="0" anchor="t"/>
          <a:lstStyle/>
          <a:p>
            <a:pPr marL="0" indent="0">
              <a:buNone/>
            </a:pPr>
            <a:r>
              <a:rPr lang="en-US" sz="1250" dirty="0">
                <a:solidFill>
                  <a:srgbClr val="C6D4E8"/>
                </a:solidFill>
                <a:latin typeface="Calibri" pitchFamily="34" charset="0"/>
                <a:ea typeface="Calibri" pitchFamily="34" charset="-122"/>
                <a:cs typeface="Calibri" pitchFamily="34" charset="-120"/>
              </a:rPr>
              <a:t>Tested in a controlled VM lab, not a production-scale network</a:t>
            </a:r>
            <a:endParaRPr lang="en-US" sz="1250" dirty="0"/>
          </a:p>
        </p:txBody>
      </p:sp>
      <p:sp>
        <p:nvSpPr>
          <p:cNvPr id="22" name="Shape 18"/>
          <p:cNvSpPr/>
          <p:nvPr/>
        </p:nvSpPr>
        <p:spPr>
          <a:xfrm>
            <a:off x="6537960" y="3584448"/>
            <a:ext cx="82296" cy="82296"/>
          </a:xfrm>
          <a:prstGeom prst="ellipse">
            <a:avLst/>
          </a:prstGeom>
          <a:solidFill>
            <a:srgbClr val="FF5C5C"/>
          </a:solidFill>
          <a:ln/>
        </p:spPr>
        <p:txBody>
          <a:bodyPr/>
          <a:lstStyle/>
          <a:p>
            <a:endParaRPr lang="en-US"/>
          </a:p>
        </p:txBody>
      </p:sp>
      <p:sp>
        <p:nvSpPr>
          <p:cNvPr id="23" name="Text 19"/>
          <p:cNvSpPr/>
          <p:nvPr/>
        </p:nvSpPr>
        <p:spPr>
          <a:xfrm>
            <a:off x="6766560" y="3447288"/>
            <a:ext cx="4617720" cy="685800"/>
          </a:xfrm>
          <a:prstGeom prst="rect">
            <a:avLst/>
          </a:prstGeom>
          <a:noFill/>
          <a:ln/>
        </p:spPr>
        <p:txBody>
          <a:bodyPr wrap="square" rtlCol="0" anchor="t"/>
          <a:lstStyle/>
          <a:p>
            <a:pPr marL="0" indent="0">
              <a:buNone/>
            </a:pPr>
            <a:r>
              <a:rPr lang="en-US" sz="1250" dirty="0">
                <a:solidFill>
                  <a:srgbClr val="C6D4E8"/>
                </a:solidFill>
                <a:latin typeface="Calibri" pitchFamily="34" charset="0"/>
                <a:ea typeface="Calibri" pitchFamily="34" charset="-122"/>
                <a:cs typeface="Calibri" pitchFamily="34" charset="-120"/>
              </a:rPr>
              <a:t>AI gives recommendations only — no automated response</a:t>
            </a:r>
            <a:endParaRPr lang="en-US" sz="1250" dirty="0"/>
          </a:p>
        </p:txBody>
      </p:sp>
      <p:sp>
        <p:nvSpPr>
          <p:cNvPr id="24" name="Shape 20"/>
          <p:cNvSpPr/>
          <p:nvPr/>
        </p:nvSpPr>
        <p:spPr>
          <a:xfrm>
            <a:off x="6537960" y="4334256"/>
            <a:ext cx="82296" cy="82296"/>
          </a:xfrm>
          <a:prstGeom prst="ellipse">
            <a:avLst/>
          </a:prstGeom>
          <a:solidFill>
            <a:srgbClr val="FF5C5C"/>
          </a:solidFill>
          <a:ln/>
        </p:spPr>
        <p:txBody>
          <a:bodyPr/>
          <a:lstStyle/>
          <a:p>
            <a:endParaRPr lang="en-US"/>
          </a:p>
        </p:txBody>
      </p:sp>
      <p:sp>
        <p:nvSpPr>
          <p:cNvPr id="25" name="Text 21"/>
          <p:cNvSpPr/>
          <p:nvPr/>
        </p:nvSpPr>
        <p:spPr>
          <a:xfrm>
            <a:off x="6766560" y="4197096"/>
            <a:ext cx="4617720" cy="685800"/>
          </a:xfrm>
          <a:prstGeom prst="rect">
            <a:avLst/>
          </a:prstGeom>
          <a:noFill/>
          <a:ln/>
        </p:spPr>
        <p:txBody>
          <a:bodyPr wrap="square" rtlCol="0" anchor="t"/>
          <a:lstStyle/>
          <a:p>
            <a:pPr marL="0" indent="0">
              <a:buNone/>
            </a:pPr>
            <a:r>
              <a:rPr lang="en-US" sz="1250" dirty="0">
                <a:solidFill>
                  <a:srgbClr val="C6D4E8"/>
                </a:solidFill>
                <a:latin typeface="Calibri" pitchFamily="34" charset="0"/>
                <a:ea typeface="Calibri" pitchFamily="34" charset="-122"/>
                <a:cs typeface="Calibri" pitchFamily="34" charset="-120"/>
              </a:rPr>
              <a:t>Small model (Llama 3.1 8B) — larger models may reason better</a:t>
            </a:r>
            <a:endParaRPr lang="en-US" sz="1250" dirty="0"/>
          </a:p>
        </p:txBody>
      </p:sp>
      <p:sp>
        <p:nvSpPr>
          <p:cNvPr id="26" name="Shape 22"/>
          <p:cNvSpPr/>
          <p:nvPr/>
        </p:nvSpPr>
        <p:spPr>
          <a:xfrm>
            <a:off x="6537960" y="5084064"/>
            <a:ext cx="82296" cy="82296"/>
          </a:xfrm>
          <a:prstGeom prst="ellipse">
            <a:avLst/>
          </a:prstGeom>
          <a:solidFill>
            <a:srgbClr val="FF5C5C"/>
          </a:solidFill>
          <a:ln/>
        </p:spPr>
        <p:txBody>
          <a:bodyPr/>
          <a:lstStyle/>
          <a:p>
            <a:endParaRPr lang="en-US"/>
          </a:p>
        </p:txBody>
      </p:sp>
      <p:sp>
        <p:nvSpPr>
          <p:cNvPr id="27" name="Text 23"/>
          <p:cNvSpPr/>
          <p:nvPr/>
        </p:nvSpPr>
        <p:spPr>
          <a:xfrm>
            <a:off x="6766560" y="4946904"/>
            <a:ext cx="4617720" cy="685800"/>
          </a:xfrm>
          <a:prstGeom prst="rect">
            <a:avLst/>
          </a:prstGeom>
          <a:noFill/>
          <a:ln/>
        </p:spPr>
        <p:txBody>
          <a:bodyPr wrap="square" rtlCol="0" anchor="t"/>
          <a:lstStyle/>
          <a:p>
            <a:pPr marL="0" indent="0">
              <a:buNone/>
            </a:pPr>
            <a:r>
              <a:rPr lang="en-US" sz="1250" dirty="0">
                <a:solidFill>
                  <a:srgbClr val="C6D4E8"/>
                </a:solidFill>
                <a:latin typeface="Calibri" pitchFamily="34" charset="0"/>
                <a:ea typeface="Calibri" pitchFamily="34" charset="-122"/>
                <a:cs typeface="Calibri" pitchFamily="34" charset="-120"/>
              </a:rPr>
              <a:t>Evaluation was scenario-based, not a large-scale attack corpus</a:t>
            </a:r>
            <a:endParaRPr lang="en-US" sz="1250" dirty="0"/>
          </a:p>
        </p:txBody>
      </p:sp>
      <p:sp>
        <p:nvSpPr>
          <p:cNvPr id="28" name="Text 24"/>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CA0B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8869680" y="502920"/>
            <a:ext cx="41148" cy="41148"/>
          </a:xfrm>
          <a:prstGeom prst="ellipse">
            <a:avLst/>
          </a:prstGeom>
          <a:solidFill>
            <a:srgbClr val="1E3A5F"/>
          </a:solidFill>
          <a:ln/>
        </p:spPr>
        <p:txBody>
          <a:bodyPr/>
          <a:lstStyle/>
          <a:p>
            <a:endParaRPr lang="en-US"/>
          </a:p>
        </p:txBody>
      </p:sp>
      <p:sp>
        <p:nvSpPr>
          <p:cNvPr id="3" name="Shape 1"/>
          <p:cNvSpPr/>
          <p:nvPr/>
        </p:nvSpPr>
        <p:spPr>
          <a:xfrm>
            <a:off x="8869680" y="795528"/>
            <a:ext cx="41148" cy="41148"/>
          </a:xfrm>
          <a:prstGeom prst="ellipse">
            <a:avLst/>
          </a:prstGeom>
          <a:solidFill>
            <a:srgbClr val="1E3A5F"/>
          </a:solidFill>
          <a:ln/>
        </p:spPr>
        <p:txBody>
          <a:bodyPr/>
          <a:lstStyle/>
          <a:p>
            <a:endParaRPr lang="en-US"/>
          </a:p>
        </p:txBody>
      </p:sp>
      <p:sp>
        <p:nvSpPr>
          <p:cNvPr id="4" name="Shape 2"/>
          <p:cNvSpPr/>
          <p:nvPr/>
        </p:nvSpPr>
        <p:spPr>
          <a:xfrm>
            <a:off x="8869680" y="1088136"/>
            <a:ext cx="41148" cy="41148"/>
          </a:xfrm>
          <a:prstGeom prst="ellipse">
            <a:avLst/>
          </a:prstGeom>
          <a:solidFill>
            <a:srgbClr val="1E3A5F"/>
          </a:solidFill>
          <a:ln/>
        </p:spPr>
        <p:txBody>
          <a:bodyPr/>
          <a:lstStyle/>
          <a:p>
            <a:endParaRPr lang="en-US"/>
          </a:p>
        </p:txBody>
      </p:sp>
      <p:sp>
        <p:nvSpPr>
          <p:cNvPr id="5" name="Shape 3"/>
          <p:cNvSpPr/>
          <p:nvPr/>
        </p:nvSpPr>
        <p:spPr>
          <a:xfrm>
            <a:off x="8869680" y="1380744"/>
            <a:ext cx="41148" cy="41148"/>
          </a:xfrm>
          <a:prstGeom prst="ellipse">
            <a:avLst/>
          </a:prstGeom>
          <a:solidFill>
            <a:srgbClr val="1E3A5F"/>
          </a:solidFill>
          <a:ln/>
        </p:spPr>
        <p:txBody>
          <a:bodyPr/>
          <a:lstStyle/>
          <a:p>
            <a:endParaRPr lang="en-US"/>
          </a:p>
        </p:txBody>
      </p:sp>
      <p:sp>
        <p:nvSpPr>
          <p:cNvPr id="6" name="Shape 4"/>
          <p:cNvSpPr/>
          <p:nvPr/>
        </p:nvSpPr>
        <p:spPr>
          <a:xfrm>
            <a:off x="9162288" y="502920"/>
            <a:ext cx="41148" cy="41148"/>
          </a:xfrm>
          <a:prstGeom prst="ellipse">
            <a:avLst/>
          </a:prstGeom>
          <a:solidFill>
            <a:srgbClr val="1E3A5F"/>
          </a:solidFill>
          <a:ln/>
        </p:spPr>
        <p:txBody>
          <a:bodyPr/>
          <a:lstStyle/>
          <a:p>
            <a:endParaRPr lang="en-US"/>
          </a:p>
        </p:txBody>
      </p:sp>
      <p:sp>
        <p:nvSpPr>
          <p:cNvPr id="7" name="Shape 5"/>
          <p:cNvSpPr/>
          <p:nvPr/>
        </p:nvSpPr>
        <p:spPr>
          <a:xfrm>
            <a:off x="9162288" y="795528"/>
            <a:ext cx="41148" cy="41148"/>
          </a:xfrm>
          <a:prstGeom prst="ellipse">
            <a:avLst/>
          </a:prstGeom>
          <a:solidFill>
            <a:srgbClr val="1E3A5F"/>
          </a:solidFill>
          <a:ln/>
        </p:spPr>
        <p:txBody>
          <a:bodyPr/>
          <a:lstStyle/>
          <a:p>
            <a:endParaRPr lang="en-US"/>
          </a:p>
        </p:txBody>
      </p:sp>
      <p:sp>
        <p:nvSpPr>
          <p:cNvPr id="8" name="Shape 6"/>
          <p:cNvSpPr/>
          <p:nvPr/>
        </p:nvSpPr>
        <p:spPr>
          <a:xfrm>
            <a:off x="9162288" y="1088136"/>
            <a:ext cx="41148" cy="41148"/>
          </a:xfrm>
          <a:prstGeom prst="ellipse">
            <a:avLst/>
          </a:prstGeom>
          <a:solidFill>
            <a:srgbClr val="1E3A5F"/>
          </a:solidFill>
          <a:ln/>
        </p:spPr>
        <p:txBody>
          <a:bodyPr/>
          <a:lstStyle/>
          <a:p>
            <a:endParaRPr lang="en-US"/>
          </a:p>
        </p:txBody>
      </p:sp>
      <p:sp>
        <p:nvSpPr>
          <p:cNvPr id="9" name="Shape 7"/>
          <p:cNvSpPr/>
          <p:nvPr/>
        </p:nvSpPr>
        <p:spPr>
          <a:xfrm>
            <a:off x="9162288" y="1380744"/>
            <a:ext cx="41148" cy="41148"/>
          </a:xfrm>
          <a:prstGeom prst="ellipse">
            <a:avLst/>
          </a:prstGeom>
          <a:solidFill>
            <a:srgbClr val="1E3A5F"/>
          </a:solidFill>
          <a:ln/>
        </p:spPr>
        <p:txBody>
          <a:bodyPr/>
          <a:lstStyle/>
          <a:p>
            <a:endParaRPr lang="en-US"/>
          </a:p>
        </p:txBody>
      </p:sp>
      <p:sp>
        <p:nvSpPr>
          <p:cNvPr id="10" name="Shape 8"/>
          <p:cNvSpPr/>
          <p:nvPr/>
        </p:nvSpPr>
        <p:spPr>
          <a:xfrm>
            <a:off x="9454896" y="502920"/>
            <a:ext cx="41148" cy="41148"/>
          </a:xfrm>
          <a:prstGeom prst="ellipse">
            <a:avLst/>
          </a:prstGeom>
          <a:solidFill>
            <a:srgbClr val="1E3A5F"/>
          </a:solidFill>
          <a:ln/>
        </p:spPr>
        <p:txBody>
          <a:bodyPr/>
          <a:lstStyle/>
          <a:p>
            <a:endParaRPr lang="en-US"/>
          </a:p>
        </p:txBody>
      </p:sp>
      <p:sp>
        <p:nvSpPr>
          <p:cNvPr id="11" name="Shape 9"/>
          <p:cNvSpPr/>
          <p:nvPr/>
        </p:nvSpPr>
        <p:spPr>
          <a:xfrm>
            <a:off x="9454896" y="795528"/>
            <a:ext cx="41148" cy="41148"/>
          </a:xfrm>
          <a:prstGeom prst="ellipse">
            <a:avLst/>
          </a:prstGeom>
          <a:solidFill>
            <a:srgbClr val="1E3A5F"/>
          </a:solidFill>
          <a:ln/>
        </p:spPr>
        <p:txBody>
          <a:bodyPr/>
          <a:lstStyle/>
          <a:p>
            <a:endParaRPr lang="en-US"/>
          </a:p>
        </p:txBody>
      </p:sp>
      <p:sp>
        <p:nvSpPr>
          <p:cNvPr id="12" name="Shape 10"/>
          <p:cNvSpPr/>
          <p:nvPr/>
        </p:nvSpPr>
        <p:spPr>
          <a:xfrm>
            <a:off x="9454896" y="1088136"/>
            <a:ext cx="41148" cy="41148"/>
          </a:xfrm>
          <a:prstGeom prst="ellipse">
            <a:avLst/>
          </a:prstGeom>
          <a:solidFill>
            <a:srgbClr val="1E3A5F"/>
          </a:solidFill>
          <a:ln/>
        </p:spPr>
        <p:txBody>
          <a:bodyPr/>
          <a:lstStyle/>
          <a:p>
            <a:endParaRPr lang="en-US"/>
          </a:p>
        </p:txBody>
      </p:sp>
      <p:sp>
        <p:nvSpPr>
          <p:cNvPr id="13" name="Shape 11"/>
          <p:cNvSpPr/>
          <p:nvPr/>
        </p:nvSpPr>
        <p:spPr>
          <a:xfrm>
            <a:off x="9454896" y="1380744"/>
            <a:ext cx="41148" cy="41148"/>
          </a:xfrm>
          <a:prstGeom prst="ellipse">
            <a:avLst/>
          </a:prstGeom>
          <a:solidFill>
            <a:srgbClr val="1E3A5F"/>
          </a:solidFill>
          <a:ln/>
        </p:spPr>
        <p:txBody>
          <a:bodyPr/>
          <a:lstStyle/>
          <a:p>
            <a:endParaRPr lang="en-US"/>
          </a:p>
        </p:txBody>
      </p:sp>
      <p:sp>
        <p:nvSpPr>
          <p:cNvPr id="14" name="Shape 12"/>
          <p:cNvSpPr/>
          <p:nvPr/>
        </p:nvSpPr>
        <p:spPr>
          <a:xfrm>
            <a:off x="9747504" y="502920"/>
            <a:ext cx="41148" cy="41148"/>
          </a:xfrm>
          <a:prstGeom prst="ellipse">
            <a:avLst/>
          </a:prstGeom>
          <a:solidFill>
            <a:srgbClr val="1E3A5F"/>
          </a:solidFill>
          <a:ln/>
        </p:spPr>
        <p:txBody>
          <a:bodyPr/>
          <a:lstStyle/>
          <a:p>
            <a:endParaRPr lang="en-US"/>
          </a:p>
        </p:txBody>
      </p:sp>
      <p:sp>
        <p:nvSpPr>
          <p:cNvPr id="15" name="Shape 13"/>
          <p:cNvSpPr/>
          <p:nvPr/>
        </p:nvSpPr>
        <p:spPr>
          <a:xfrm>
            <a:off x="9747504" y="795528"/>
            <a:ext cx="41148" cy="41148"/>
          </a:xfrm>
          <a:prstGeom prst="ellipse">
            <a:avLst/>
          </a:prstGeom>
          <a:solidFill>
            <a:srgbClr val="1E3A5F"/>
          </a:solidFill>
          <a:ln/>
        </p:spPr>
        <p:txBody>
          <a:bodyPr/>
          <a:lstStyle/>
          <a:p>
            <a:endParaRPr lang="en-US"/>
          </a:p>
        </p:txBody>
      </p:sp>
      <p:sp>
        <p:nvSpPr>
          <p:cNvPr id="16" name="Shape 14"/>
          <p:cNvSpPr/>
          <p:nvPr/>
        </p:nvSpPr>
        <p:spPr>
          <a:xfrm>
            <a:off x="9747504" y="1088136"/>
            <a:ext cx="41148" cy="41148"/>
          </a:xfrm>
          <a:prstGeom prst="ellipse">
            <a:avLst/>
          </a:prstGeom>
          <a:solidFill>
            <a:srgbClr val="1E3A5F"/>
          </a:solidFill>
          <a:ln/>
        </p:spPr>
        <p:txBody>
          <a:bodyPr/>
          <a:lstStyle/>
          <a:p>
            <a:endParaRPr lang="en-US"/>
          </a:p>
        </p:txBody>
      </p:sp>
      <p:sp>
        <p:nvSpPr>
          <p:cNvPr id="17" name="Shape 15"/>
          <p:cNvSpPr/>
          <p:nvPr/>
        </p:nvSpPr>
        <p:spPr>
          <a:xfrm>
            <a:off x="9747504" y="1380744"/>
            <a:ext cx="41148" cy="41148"/>
          </a:xfrm>
          <a:prstGeom prst="ellipse">
            <a:avLst/>
          </a:prstGeom>
          <a:solidFill>
            <a:srgbClr val="1E3A5F"/>
          </a:solidFill>
          <a:ln/>
        </p:spPr>
        <p:txBody>
          <a:bodyPr/>
          <a:lstStyle/>
          <a:p>
            <a:endParaRPr lang="en-US"/>
          </a:p>
        </p:txBody>
      </p:sp>
      <p:sp>
        <p:nvSpPr>
          <p:cNvPr id="18" name="Shape 16"/>
          <p:cNvSpPr/>
          <p:nvPr/>
        </p:nvSpPr>
        <p:spPr>
          <a:xfrm>
            <a:off x="10040112" y="502920"/>
            <a:ext cx="41148" cy="41148"/>
          </a:xfrm>
          <a:prstGeom prst="ellipse">
            <a:avLst/>
          </a:prstGeom>
          <a:solidFill>
            <a:srgbClr val="1E3A5F"/>
          </a:solidFill>
          <a:ln/>
        </p:spPr>
        <p:txBody>
          <a:bodyPr/>
          <a:lstStyle/>
          <a:p>
            <a:endParaRPr lang="en-US"/>
          </a:p>
        </p:txBody>
      </p:sp>
      <p:sp>
        <p:nvSpPr>
          <p:cNvPr id="19" name="Shape 17"/>
          <p:cNvSpPr/>
          <p:nvPr/>
        </p:nvSpPr>
        <p:spPr>
          <a:xfrm>
            <a:off x="10040112" y="795528"/>
            <a:ext cx="41148" cy="41148"/>
          </a:xfrm>
          <a:prstGeom prst="ellipse">
            <a:avLst/>
          </a:prstGeom>
          <a:solidFill>
            <a:srgbClr val="1E3A5F"/>
          </a:solidFill>
          <a:ln/>
        </p:spPr>
        <p:txBody>
          <a:bodyPr/>
          <a:lstStyle/>
          <a:p>
            <a:endParaRPr lang="en-US"/>
          </a:p>
        </p:txBody>
      </p:sp>
      <p:sp>
        <p:nvSpPr>
          <p:cNvPr id="20" name="Shape 18"/>
          <p:cNvSpPr/>
          <p:nvPr/>
        </p:nvSpPr>
        <p:spPr>
          <a:xfrm>
            <a:off x="10040112" y="1088136"/>
            <a:ext cx="41148" cy="41148"/>
          </a:xfrm>
          <a:prstGeom prst="ellipse">
            <a:avLst/>
          </a:prstGeom>
          <a:solidFill>
            <a:srgbClr val="1E3A5F"/>
          </a:solidFill>
          <a:ln/>
        </p:spPr>
        <p:txBody>
          <a:bodyPr/>
          <a:lstStyle/>
          <a:p>
            <a:endParaRPr lang="en-US"/>
          </a:p>
        </p:txBody>
      </p:sp>
      <p:sp>
        <p:nvSpPr>
          <p:cNvPr id="21" name="Shape 19"/>
          <p:cNvSpPr/>
          <p:nvPr/>
        </p:nvSpPr>
        <p:spPr>
          <a:xfrm>
            <a:off x="10040112" y="1380744"/>
            <a:ext cx="41148" cy="41148"/>
          </a:xfrm>
          <a:prstGeom prst="ellipse">
            <a:avLst/>
          </a:prstGeom>
          <a:solidFill>
            <a:srgbClr val="1E3A5F"/>
          </a:solidFill>
          <a:ln/>
        </p:spPr>
        <p:txBody>
          <a:bodyPr/>
          <a:lstStyle/>
          <a:p>
            <a:endParaRPr lang="en-US"/>
          </a:p>
        </p:txBody>
      </p:sp>
      <p:sp>
        <p:nvSpPr>
          <p:cNvPr id="22" name="Shape 20"/>
          <p:cNvSpPr/>
          <p:nvPr/>
        </p:nvSpPr>
        <p:spPr>
          <a:xfrm>
            <a:off x="10332720" y="502920"/>
            <a:ext cx="41148" cy="41148"/>
          </a:xfrm>
          <a:prstGeom prst="ellipse">
            <a:avLst/>
          </a:prstGeom>
          <a:solidFill>
            <a:srgbClr val="1E3A5F"/>
          </a:solidFill>
          <a:ln/>
        </p:spPr>
        <p:txBody>
          <a:bodyPr/>
          <a:lstStyle/>
          <a:p>
            <a:endParaRPr lang="en-US"/>
          </a:p>
        </p:txBody>
      </p:sp>
      <p:sp>
        <p:nvSpPr>
          <p:cNvPr id="23" name="Shape 21"/>
          <p:cNvSpPr/>
          <p:nvPr/>
        </p:nvSpPr>
        <p:spPr>
          <a:xfrm>
            <a:off x="10332720" y="795528"/>
            <a:ext cx="41148" cy="41148"/>
          </a:xfrm>
          <a:prstGeom prst="ellipse">
            <a:avLst/>
          </a:prstGeom>
          <a:solidFill>
            <a:srgbClr val="1E3A5F"/>
          </a:solidFill>
          <a:ln/>
        </p:spPr>
        <p:txBody>
          <a:bodyPr/>
          <a:lstStyle/>
          <a:p>
            <a:endParaRPr lang="en-US"/>
          </a:p>
        </p:txBody>
      </p:sp>
      <p:sp>
        <p:nvSpPr>
          <p:cNvPr id="24" name="Shape 22"/>
          <p:cNvSpPr/>
          <p:nvPr/>
        </p:nvSpPr>
        <p:spPr>
          <a:xfrm>
            <a:off x="10332720" y="1088136"/>
            <a:ext cx="41148" cy="41148"/>
          </a:xfrm>
          <a:prstGeom prst="ellipse">
            <a:avLst/>
          </a:prstGeom>
          <a:solidFill>
            <a:srgbClr val="1E3A5F"/>
          </a:solidFill>
          <a:ln/>
        </p:spPr>
        <p:txBody>
          <a:bodyPr/>
          <a:lstStyle/>
          <a:p>
            <a:endParaRPr lang="en-US"/>
          </a:p>
        </p:txBody>
      </p:sp>
      <p:sp>
        <p:nvSpPr>
          <p:cNvPr id="25" name="Shape 23"/>
          <p:cNvSpPr/>
          <p:nvPr/>
        </p:nvSpPr>
        <p:spPr>
          <a:xfrm>
            <a:off x="10332720" y="1380744"/>
            <a:ext cx="41148" cy="41148"/>
          </a:xfrm>
          <a:prstGeom prst="ellipse">
            <a:avLst/>
          </a:prstGeom>
          <a:solidFill>
            <a:srgbClr val="1E3A5F"/>
          </a:solidFill>
          <a:ln/>
        </p:spPr>
        <p:txBody>
          <a:bodyPr/>
          <a:lstStyle/>
          <a:p>
            <a:endParaRPr lang="en-US"/>
          </a:p>
        </p:txBody>
      </p:sp>
      <p:sp>
        <p:nvSpPr>
          <p:cNvPr id="26" name="Text 24"/>
          <p:cNvSpPr/>
          <p:nvPr/>
        </p:nvSpPr>
        <p:spPr>
          <a:xfrm>
            <a:off x="822960" y="640080"/>
            <a:ext cx="5486400" cy="320040"/>
          </a:xfrm>
          <a:prstGeom prst="rect">
            <a:avLst/>
          </a:prstGeom>
          <a:noFill/>
          <a:ln/>
        </p:spPr>
        <p:txBody>
          <a:bodyPr wrap="square" rtlCol="0" anchor="ctr"/>
          <a:lstStyle/>
          <a:p>
            <a:pPr marL="0" indent="0">
              <a:buNone/>
            </a:pPr>
            <a:r>
              <a:rPr lang="en-US" sz="1200" b="1" kern="0" spc="200" dirty="0">
                <a:solidFill>
                  <a:srgbClr val="6FE4EC"/>
                </a:solidFill>
                <a:latin typeface="Calibri" pitchFamily="34" charset="0"/>
                <a:ea typeface="Calibri" pitchFamily="34" charset="-122"/>
                <a:cs typeface="Calibri" pitchFamily="34" charset="-120"/>
              </a:rPr>
              <a:t>CONCLUSION</a:t>
            </a:r>
            <a:endParaRPr lang="en-US" sz="1200" dirty="0"/>
          </a:p>
        </p:txBody>
      </p:sp>
      <p:sp>
        <p:nvSpPr>
          <p:cNvPr id="27" name="Text 25"/>
          <p:cNvSpPr/>
          <p:nvPr/>
        </p:nvSpPr>
        <p:spPr>
          <a:xfrm>
            <a:off x="777240" y="1005840"/>
            <a:ext cx="8686800" cy="137160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AI as a decision-support tool —</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not a replacement</a:t>
            </a:r>
            <a:endParaRPr lang="en-US" sz="3200" dirty="0"/>
          </a:p>
        </p:txBody>
      </p:sp>
      <p:sp>
        <p:nvSpPr>
          <p:cNvPr id="28" name="Shape 26"/>
          <p:cNvSpPr/>
          <p:nvPr/>
        </p:nvSpPr>
        <p:spPr>
          <a:xfrm>
            <a:off x="822960" y="2788920"/>
            <a:ext cx="502920" cy="502920"/>
          </a:xfrm>
          <a:prstGeom prst="ellipse">
            <a:avLst/>
          </a:prstGeom>
          <a:solidFill>
            <a:srgbClr val="00C2D1"/>
          </a:solidFill>
          <a:ln/>
        </p:spPr>
        <p:txBody>
          <a:bodyPr/>
          <a:lstStyle/>
          <a:p>
            <a:endParaRPr lang="en-US"/>
          </a:p>
        </p:txBody>
      </p:sp>
      <p:pic>
        <p:nvPicPr>
          <p:cNvPr id="29" name="Image 0" descr="/home/claude/pptx_build/icons/shield.png"/>
          <p:cNvPicPr>
            <a:picLocks noChangeAspect="1"/>
          </p:cNvPicPr>
          <p:nvPr/>
        </p:nvPicPr>
        <p:blipFill>
          <a:blip r:embed="rId3"/>
          <a:stretch>
            <a:fillRect/>
          </a:stretch>
        </p:blipFill>
        <p:spPr>
          <a:xfrm>
            <a:off x="948690" y="2914650"/>
            <a:ext cx="251460" cy="251460"/>
          </a:xfrm>
          <a:prstGeom prst="rect">
            <a:avLst/>
          </a:prstGeom>
        </p:spPr>
      </p:pic>
      <p:sp>
        <p:nvSpPr>
          <p:cNvPr id="30" name="Text 27"/>
          <p:cNvSpPr/>
          <p:nvPr/>
        </p:nvSpPr>
        <p:spPr>
          <a:xfrm>
            <a:off x="1508760" y="2770632"/>
            <a:ext cx="9052560" cy="594360"/>
          </a:xfrm>
          <a:prstGeom prst="rect">
            <a:avLst/>
          </a:prstGeom>
          <a:noFill/>
          <a:ln/>
        </p:spPr>
        <p:txBody>
          <a:bodyPr wrap="square" rtlCol="0" anchor="ctr"/>
          <a:lstStyle/>
          <a:p>
            <a:pPr marL="0" indent="0">
              <a:buNone/>
            </a:pPr>
            <a:r>
              <a:rPr lang="en-US" sz="1450" dirty="0">
                <a:solidFill>
                  <a:srgbClr val="D6E2F0"/>
                </a:solidFill>
                <a:latin typeface="Calibri" pitchFamily="34" charset="0"/>
                <a:ea typeface="Calibri" pitchFamily="34" charset="-122"/>
                <a:cs typeface="Calibri" pitchFamily="34" charset="-120"/>
              </a:rPr>
              <a:t>Wazuh stays responsible for detection — the ground truth never changes.</a:t>
            </a:r>
            <a:endParaRPr lang="en-US" sz="1450" dirty="0"/>
          </a:p>
        </p:txBody>
      </p:sp>
      <p:sp>
        <p:nvSpPr>
          <p:cNvPr id="31" name="Shape 28"/>
          <p:cNvSpPr/>
          <p:nvPr/>
        </p:nvSpPr>
        <p:spPr>
          <a:xfrm>
            <a:off x="822960" y="3566160"/>
            <a:ext cx="502920" cy="502920"/>
          </a:xfrm>
          <a:prstGeom prst="ellipse">
            <a:avLst/>
          </a:prstGeom>
          <a:solidFill>
            <a:srgbClr val="00C2D1"/>
          </a:solidFill>
          <a:ln/>
        </p:spPr>
        <p:txBody>
          <a:bodyPr/>
          <a:lstStyle/>
          <a:p>
            <a:endParaRPr lang="en-US"/>
          </a:p>
        </p:txBody>
      </p:sp>
      <p:pic>
        <p:nvPicPr>
          <p:cNvPr id="32" name="Image 1" descr="/home/claude/pptx_build/icons/cpu.png"/>
          <p:cNvPicPr>
            <a:picLocks noChangeAspect="1"/>
          </p:cNvPicPr>
          <p:nvPr/>
        </p:nvPicPr>
        <p:blipFill>
          <a:blip r:embed="rId4"/>
          <a:stretch>
            <a:fillRect/>
          </a:stretch>
        </p:blipFill>
        <p:spPr>
          <a:xfrm>
            <a:off x="948690" y="3691890"/>
            <a:ext cx="251460" cy="251460"/>
          </a:xfrm>
          <a:prstGeom prst="rect">
            <a:avLst/>
          </a:prstGeom>
        </p:spPr>
      </p:pic>
      <p:sp>
        <p:nvSpPr>
          <p:cNvPr id="33" name="Text 29"/>
          <p:cNvSpPr/>
          <p:nvPr/>
        </p:nvSpPr>
        <p:spPr>
          <a:xfrm>
            <a:off x="1508760" y="3547872"/>
            <a:ext cx="9052560" cy="594360"/>
          </a:xfrm>
          <a:prstGeom prst="rect">
            <a:avLst/>
          </a:prstGeom>
          <a:noFill/>
          <a:ln/>
        </p:spPr>
        <p:txBody>
          <a:bodyPr wrap="square" rtlCol="0" anchor="ctr"/>
          <a:lstStyle/>
          <a:p>
            <a:pPr marL="0" indent="0">
              <a:buNone/>
            </a:pPr>
            <a:r>
              <a:rPr lang="en-US" sz="1450" dirty="0">
                <a:solidFill>
                  <a:srgbClr val="D6E2F0"/>
                </a:solidFill>
                <a:latin typeface="Calibri" pitchFamily="34" charset="0"/>
                <a:ea typeface="Calibri" pitchFamily="34" charset="-122"/>
                <a:cs typeface="Calibri" pitchFamily="34" charset="-120"/>
              </a:rPr>
              <a:t>AlertMind cuts the time to understand an alert, not the rigor of the analysis.</a:t>
            </a:r>
            <a:endParaRPr lang="en-US" sz="1450" dirty="0"/>
          </a:p>
        </p:txBody>
      </p:sp>
      <p:sp>
        <p:nvSpPr>
          <p:cNvPr id="34" name="Shape 30"/>
          <p:cNvSpPr/>
          <p:nvPr/>
        </p:nvSpPr>
        <p:spPr>
          <a:xfrm>
            <a:off x="822960" y="4343400"/>
            <a:ext cx="502920" cy="502920"/>
          </a:xfrm>
          <a:prstGeom prst="ellipse">
            <a:avLst/>
          </a:prstGeom>
          <a:solidFill>
            <a:srgbClr val="00C2D1"/>
          </a:solidFill>
          <a:ln/>
        </p:spPr>
        <p:txBody>
          <a:bodyPr/>
          <a:lstStyle/>
          <a:p>
            <a:endParaRPr lang="en-US"/>
          </a:p>
        </p:txBody>
      </p:sp>
      <p:pic>
        <p:nvPicPr>
          <p:cNvPr id="35" name="Image 2" descr="/home/claude/pptx_build/icons/users.png"/>
          <p:cNvPicPr>
            <a:picLocks noChangeAspect="1"/>
          </p:cNvPicPr>
          <p:nvPr/>
        </p:nvPicPr>
        <p:blipFill>
          <a:blip r:embed="rId5"/>
          <a:stretch>
            <a:fillRect/>
          </a:stretch>
        </p:blipFill>
        <p:spPr>
          <a:xfrm>
            <a:off x="948690" y="4469130"/>
            <a:ext cx="251460" cy="251460"/>
          </a:xfrm>
          <a:prstGeom prst="rect">
            <a:avLst/>
          </a:prstGeom>
        </p:spPr>
      </p:pic>
      <p:sp>
        <p:nvSpPr>
          <p:cNvPr id="36" name="Text 31"/>
          <p:cNvSpPr/>
          <p:nvPr/>
        </p:nvSpPr>
        <p:spPr>
          <a:xfrm>
            <a:off x="1508760" y="4325112"/>
            <a:ext cx="9052560" cy="594360"/>
          </a:xfrm>
          <a:prstGeom prst="rect">
            <a:avLst/>
          </a:prstGeom>
          <a:noFill/>
          <a:ln/>
        </p:spPr>
        <p:txBody>
          <a:bodyPr wrap="square" rtlCol="0" anchor="ctr"/>
          <a:lstStyle/>
          <a:p>
            <a:pPr marL="0" indent="0">
              <a:buNone/>
            </a:pPr>
            <a:r>
              <a:rPr lang="en-US" sz="1450" dirty="0">
                <a:solidFill>
                  <a:srgbClr val="D6E2F0"/>
                </a:solidFill>
                <a:latin typeface="Calibri" pitchFamily="34" charset="0"/>
                <a:ea typeface="Calibri" pitchFamily="34" charset="-122"/>
                <a:cs typeface="Calibri" pitchFamily="34" charset="-120"/>
              </a:rPr>
              <a:t>Every recommendation is reviewed by a human before anything happens.</a:t>
            </a:r>
            <a:endParaRPr lang="en-US" sz="1450" dirty="0"/>
          </a:p>
        </p:txBody>
      </p:sp>
      <p:sp>
        <p:nvSpPr>
          <p:cNvPr id="37" name="Shape 32"/>
          <p:cNvSpPr/>
          <p:nvPr/>
        </p:nvSpPr>
        <p:spPr>
          <a:xfrm>
            <a:off x="822960" y="5532120"/>
            <a:ext cx="3108960" cy="0"/>
          </a:xfrm>
          <a:prstGeom prst="line">
            <a:avLst/>
          </a:prstGeom>
          <a:noFill/>
          <a:ln w="12700">
            <a:solidFill>
              <a:srgbClr val="27476F"/>
            </a:solidFill>
            <a:prstDash val="solid"/>
          </a:ln>
        </p:spPr>
        <p:txBody>
          <a:bodyPr/>
          <a:lstStyle/>
          <a:p>
            <a:endParaRPr lang="en-US"/>
          </a:p>
        </p:txBody>
      </p:sp>
      <p:sp>
        <p:nvSpPr>
          <p:cNvPr id="38" name="Text 33"/>
          <p:cNvSpPr/>
          <p:nvPr/>
        </p:nvSpPr>
        <p:spPr>
          <a:xfrm>
            <a:off x="822960" y="5715000"/>
            <a:ext cx="7315200" cy="548640"/>
          </a:xfrm>
          <a:prstGeom prst="rect">
            <a:avLst/>
          </a:prstGeom>
          <a:noFill/>
          <a:ln/>
        </p:spPr>
        <p:txBody>
          <a:bodyPr wrap="square" rtlCol="0" anchor="ctr"/>
          <a:lstStyle/>
          <a:p>
            <a:pPr marL="0" indent="0">
              <a:buNone/>
            </a:pPr>
            <a:r>
              <a:rPr lang="en-US" sz="2200" b="1" dirty="0">
                <a:solidFill>
                  <a:srgbClr val="00C2D1"/>
                </a:solidFill>
                <a:latin typeface="Calibri" pitchFamily="34" charset="0"/>
                <a:ea typeface="Calibri" pitchFamily="34" charset="-122"/>
                <a:cs typeface="Calibri" pitchFamily="34" charset="-120"/>
              </a:rPr>
              <a:t>Thank you — Questions?</a:t>
            </a:r>
            <a:endParaRPr lang="en-US" sz="2200" dirty="0"/>
          </a:p>
        </p:txBody>
      </p:sp>
      <p:sp>
        <p:nvSpPr>
          <p:cNvPr id="39" name="Text 34"/>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3E517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1822</Words>
  <Application>Microsoft Office PowerPoint</Application>
  <PresentationFormat>Widescreen</PresentationFormat>
  <Paragraphs>193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Soumil Verma</cp:lastModifiedBy>
  <cp:revision>2</cp:revision>
  <dcterms:created xsi:type="dcterms:W3CDTF">2026-07-24T18:34:29Z</dcterms:created>
  <dcterms:modified xsi:type="dcterms:W3CDTF">2026-07-25T05:16:48Z</dcterms:modified>
</cp:coreProperties>
</file>